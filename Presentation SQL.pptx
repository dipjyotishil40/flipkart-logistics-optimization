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60" r:id="rId2"/>
    <p:sldId id="256" r:id="rId3"/>
    <p:sldId id="257" r:id="rId4"/>
    <p:sldId id="274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2F6D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493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24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94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07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851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1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80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44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4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1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7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93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3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507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912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94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90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7AF9E5-D42C-44A9-92A8-BD39C609B99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ADACB08-4064-46DA-8111-FC357C678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53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C0EB5-CA33-D620-538A-67608CC7E3CD}"/>
              </a:ext>
            </a:extLst>
          </p:cNvPr>
          <p:cNvSpPr/>
          <p:nvPr/>
        </p:nvSpPr>
        <p:spPr>
          <a:xfrm>
            <a:off x="2013857" y="892629"/>
            <a:ext cx="8022771" cy="9688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n w="19050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Logistics Optimization for Delivery Routes – Flipkart</a:t>
            </a:r>
            <a:endParaRPr lang="en-IN" sz="2800" b="1" i="1" dirty="0">
              <a:ln w="19050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61072-8B49-B170-98EA-DBECE54DEC8F}"/>
              </a:ext>
            </a:extLst>
          </p:cNvPr>
          <p:cNvSpPr txBox="1"/>
          <p:nvPr/>
        </p:nvSpPr>
        <p:spPr>
          <a:xfrm>
            <a:off x="2618014" y="2873828"/>
            <a:ext cx="231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Submitted by -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7145A-4A39-061E-1991-9B9FE5DF0759}"/>
              </a:ext>
            </a:extLst>
          </p:cNvPr>
          <p:cNvSpPr/>
          <p:nvPr/>
        </p:nvSpPr>
        <p:spPr>
          <a:xfrm>
            <a:off x="4936671" y="2620247"/>
            <a:ext cx="2318657" cy="9688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Dipjyoti Shil</a:t>
            </a:r>
            <a:endParaRPr lang="en-IN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53D2B-EC9A-126B-8FBD-60D433BE009C}"/>
              </a:ext>
            </a:extLst>
          </p:cNvPr>
          <p:cNvSpPr txBox="1"/>
          <p:nvPr/>
        </p:nvSpPr>
        <p:spPr>
          <a:xfrm>
            <a:off x="3037114" y="4158343"/>
            <a:ext cx="5519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u="sng" dirty="0"/>
              <a:t>09/05/2026</a:t>
            </a:r>
            <a:endParaRPr lang="en-IN" sz="3200" b="1" i="1" u="sng" dirty="0"/>
          </a:p>
        </p:txBody>
      </p:sp>
    </p:spTree>
    <p:extLst>
      <p:ext uri="{BB962C8B-B14F-4D97-AF65-F5344CB8AC3E}">
        <p14:creationId xmlns:p14="http://schemas.microsoft.com/office/powerpoint/2010/main" val="176871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1804E9-7006-D93A-B856-33E280E77788}"/>
              </a:ext>
            </a:extLst>
          </p:cNvPr>
          <p:cNvSpPr/>
          <p:nvPr/>
        </p:nvSpPr>
        <p:spPr>
          <a:xfrm>
            <a:off x="212273" y="1273489"/>
            <a:ext cx="4076700" cy="2168005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Delivery delay for each days</a:t>
            </a:r>
          </a:p>
          <a:p>
            <a:endParaRPr lang="en-US" sz="2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SELECT </a:t>
            </a:r>
          </a:p>
          <a:p>
            <a:r>
              <a:rPr lang="en-US" dirty="0"/>
              <a:t>	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warehouse_id</a:t>
            </a:r>
            <a:r>
              <a:rPr lang="en-US" dirty="0"/>
              <a:t>, </a:t>
            </a:r>
            <a:r>
              <a:rPr lang="en-US" dirty="0" err="1"/>
              <a:t>route_id</a:t>
            </a:r>
            <a:r>
              <a:rPr lang="en-US" dirty="0"/>
              <a:t>, 	</a:t>
            </a:r>
            <a:r>
              <a:rPr lang="en-US" dirty="0">
                <a:solidFill>
                  <a:srgbClr val="996633"/>
                </a:solidFill>
              </a:rPr>
              <a:t>DATEDIFF</a:t>
            </a:r>
            <a:r>
              <a:rPr lang="en-US" dirty="0"/>
              <a:t>(</a:t>
            </a:r>
            <a:r>
              <a:rPr lang="en-US" dirty="0" err="1"/>
              <a:t>actual_delivery_date</a:t>
            </a:r>
            <a:r>
              <a:rPr lang="en-US" dirty="0"/>
              <a:t>, 	</a:t>
            </a:r>
            <a:r>
              <a:rPr lang="en-US" dirty="0" err="1"/>
              <a:t>expected_delivery_date</a:t>
            </a:r>
            <a:r>
              <a:rPr lang="en-US" dirty="0"/>
              <a:t>)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AS</a:t>
            </a:r>
            <a:r>
              <a:rPr lang="en-US" dirty="0"/>
              <a:t> </a:t>
            </a:r>
            <a:r>
              <a:rPr lang="en-US" dirty="0" err="1"/>
              <a:t>delay_days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/>
              <a:t> orders;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0A709-7E42-9ED8-E76C-55A849F5B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942" y="3758292"/>
            <a:ext cx="1810003" cy="280074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B9D674-62F5-519F-6D36-36F8F9003095}"/>
              </a:ext>
            </a:extLst>
          </p:cNvPr>
          <p:cNvSpPr/>
          <p:nvPr/>
        </p:nvSpPr>
        <p:spPr>
          <a:xfrm>
            <a:off x="212273" y="3970761"/>
            <a:ext cx="4076700" cy="2168005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Top 10 delayed routes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route_id</a:t>
            </a:r>
            <a:r>
              <a:rPr lang="en-US" dirty="0"/>
              <a:t>, </a:t>
            </a:r>
          </a:p>
          <a:p>
            <a:r>
              <a:rPr lang="en-US" dirty="0">
                <a:solidFill>
                  <a:srgbClr val="00B0F0"/>
                </a:solidFill>
              </a:rPr>
              <a:t>	AVG</a:t>
            </a:r>
            <a:r>
              <a:rPr lang="en-US" dirty="0"/>
              <a:t>(</a:t>
            </a:r>
            <a:r>
              <a:rPr lang="en-US" dirty="0" err="1"/>
              <a:t>delay_days</a:t>
            </a:r>
            <a:r>
              <a:rPr lang="en-US" dirty="0"/>
              <a:t>) </a:t>
            </a:r>
            <a:r>
              <a:rPr lang="en-US" dirty="0">
                <a:solidFill>
                  <a:srgbClr val="00B0F0"/>
                </a:solidFill>
              </a:rPr>
              <a:t>AS </a:t>
            </a:r>
            <a:r>
              <a:rPr lang="en-US" dirty="0" err="1"/>
              <a:t>avg_delay</a:t>
            </a:r>
            <a:r>
              <a:rPr lang="en-US" dirty="0"/>
              <a:t> 	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order_delay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WHERE 	</a:t>
            </a:r>
            <a:r>
              <a:rPr lang="en-US" dirty="0" err="1"/>
              <a:t>delay_days</a:t>
            </a:r>
            <a:r>
              <a:rPr lang="en-US" dirty="0"/>
              <a:t> &gt; </a:t>
            </a:r>
            <a:r>
              <a:rPr lang="en-US" dirty="0">
                <a:solidFill>
                  <a:srgbClr val="996633"/>
                </a:solidFill>
              </a:rPr>
              <a:t>0 </a:t>
            </a:r>
            <a:r>
              <a:rPr lang="en-US" dirty="0">
                <a:solidFill>
                  <a:srgbClr val="00B0F0"/>
                </a:solidFill>
              </a:rPr>
              <a:t>GROUP BY </a:t>
            </a:r>
            <a:r>
              <a:rPr lang="en-US" dirty="0" err="1"/>
              <a:t>route_id</a:t>
            </a:r>
            <a:r>
              <a:rPr lang="en-US" dirty="0"/>
              <a:t> 	</a:t>
            </a:r>
            <a:r>
              <a:rPr lang="en-US" dirty="0">
                <a:solidFill>
                  <a:srgbClr val="00B0F0"/>
                </a:solidFill>
              </a:rPr>
              <a:t>ORDER BY </a:t>
            </a:r>
            <a:r>
              <a:rPr lang="en-US" dirty="0" err="1"/>
              <a:t>avg_delay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DESC LIMIT</a:t>
            </a:r>
            <a:r>
              <a:rPr lang="en-US" dirty="0"/>
              <a:t> </a:t>
            </a:r>
            <a:r>
              <a:rPr lang="en-US" dirty="0">
                <a:solidFill>
                  <a:srgbClr val="996633"/>
                </a:solidFill>
              </a:rPr>
              <a:t>10</a:t>
            </a:r>
            <a:r>
              <a:rPr lang="en-US" dirty="0"/>
              <a:t>;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DF5BB2-EAC8-13E1-67A9-5D51F8885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995" y="611118"/>
            <a:ext cx="3649210" cy="289720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283687-DF63-4A87-8577-31D62EB6C840}"/>
              </a:ext>
            </a:extLst>
          </p:cNvPr>
          <p:cNvCxnSpPr>
            <a:cxnSpLocks/>
          </p:cNvCxnSpPr>
          <p:nvPr/>
        </p:nvCxnSpPr>
        <p:spPr>
          <a:xfrm>
            <a:off x="4412911" y="2371920"/>
            <a:ext cx="72514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56C153-5354-D120-62BB-AC08C178A280}"/>
              </a:ext>
            </a:extLst>
          </p:cNvPr>
          <p:cNvSpPr/>
          <p:nvPr/>
        </p:nvSpPr>
        <p:spPr>
          <a:xfrm>
            <a:off x="212273" y="174180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Delivery Delay Analysis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BAA6C7-20EF-121C-6381-2BD36A36927C}"/>
              </a:ext>
            </a:extLst>
          </p:cNvPr>
          <p:cNvCxnSpPr>
            <a:cxnSpLocks/>
          </p:cNvCxnSpPr>
          <p:nvPr/>
        </p:nvCxnSpPr>
        <p:spPr>
          <a:xfrm flipV="1">
            <a:off x="4412911" y="5158662"/>
            <a:ext cx="725146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DEDE063-B1EB-6144-5DC5-4A1BEC8FD884}"/>
              </a:ext>
            </a:extLst>
          </p:cNvPr>
          <p:cNvSpPr/>
          <p:nvPr/>
        </p:nvSpPr>
        <p:spPr>
          <a:xfrm>
            <a:off x="8153401" y="4097259"/>
            <a:ext cx="3649210" cy="2461774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rgbClr val="662F6D"/>
                </a:solidFill>
              </a:rPr>
              <a:t>Analysis Approach</a:t>
            </a:r>
          </a:p>
          <a:p>
            <a:endParaRPr lang="en-US" b="1" i="1" u="sng" dirty="0">
              <a:solidFill>
                <a:srgbClr val="662F6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Calculated delivery delay using actual vs expected delivery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Identified delay (in days) for each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route-level delay patterns</a:t>
            </a:r>
          </a:p>
        </p:txBody>
      </p:sp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77656D4D-3C78-00DB-E5B7-C87B78C513D7}"/>
              </a:ext>
            </a:extLst>
          </p:cNvPr>
          <p:cNvSpPr/>
          <p:nvPr/>
        </p:nvSpPr>
        <p:spPr>
          <a:xfrm>
            <a:off x="9187543" y="174180"/>
            <a:ext cx="2840316" cy="2917363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While most deliveries are on time, a few routes consistently experience higher delays, suggesting operational or traffic-related inefficiencies</a:t>
            </a:r>
            <a:r>
              <a:rPr lang="en-US" sz="1200" b="1" dirty="0">
                <a:solidFill>
                  <a:schemeClr val="bg1"/>
                </a:solidFill>
              </a:rPr>
              <a:t>.</a:t>
            </a:r>
            <a:endParaRPr lang="en-IN" sz="1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0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C59E73-A36E-B373-D6B5-5D47F5EA75F3}"/>
              </a:ext>
            </a:extLst>
          </p:cNvPr>
          <p:cNvSpPr/>
          <p:nvPr/>
        </p:nvSpPr>
        <p:spPr>
          <a:xfrm>
            <a:off x="250374" y="4251673"/>
            <a:ext cx="4767941" cy="205740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Ranking all orders by delay(Better version)</a:t>
            </a:r>
          </a:p>
          <a:p>
            <a:endParaRPr lang="en-US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SELECT</a:t>
            </a:r>
            <a:r>
              <a:rPr lang="en-US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	(</a:t>
            </a:r>
            <a:r>
              <a:rPr lang="en-US" dirty="0">
                <a:solidFill>
                  <a:srgbClr val="00B0F0"/>
                </a:solidFill>
              </a:rPr>
              <a:t>SELECT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order_id,warehouse_id,delay_days</a:t>
            </a:r>
            <a:r>
              <a:rPr lang="en-US" dirty="0">
                <a:solidFill>
                  <a:schemeClr val="bg1"/>
                </a:solidFill>
              </a:rPr>
              <a:t>, 	</a:t>
            </a:r>
            <a:r>
              <a:rPr lang="en-US" dirty="0">
                <a:solidFill>
                  <a:srgbClr val="00B0F0"/>
                </a:solidFill>
              </a:rPr>
              <a:t>RANK</a:t>
            </a:r>
            <a:r>
              <a:rPr lang="en-US" dirty="0">
                <a:solidFill>
                  <a:schemeClr val="bg1"/>
                </a:solidFill>
              </a:rPr>
              <a:t>() </a:t>
            </a:r>
            <a:r>
              <a:rPr lang="en-US" dirty="0">
                <a:solidFill>
                  <a:srgbClr val="00B0F0"/>
                </a:solidFill>
              </a:rPr>
              <a:t>OVER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>
                <a:solidFill>
                  <a:srgbClr val="00B0F0"/>
                </a:solidFill>
              </a:rPr>
              <a:t>PARTITION BY </a:t>
            </a:r>
            <a:r>
              <a:rPr lang="en-US" dirty="0" err="1">
                <a:solidFill>
                  <a:schemeClr val="bg1"/>
                </a:solidFill>
              </a:rPr>
              <a:t>warehouse_id</a:t>
            </a:r>
            <a:r>
              <a:rPr lang="en-US" dirty="0">
                <a:solidFill>
                  <a:schemeClr val="bg1"/>
                </a:solidFill>
              </a:rPr>
              <a:t> 	</a:t>
            </a:r>
            <a:r>
              <a:rPr lang="en-US" dirty="0">
                <a:solidFill>
                  <a:srgbClr val="00B0F0"/>
                </a:solidFill>
              </a:rPr>
              <a:t>ORDER BY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delay_days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DESC</a:t>
            </a:r>
            <a:r>
              <a:rPr lang="en-US" dirty="0">
                <a:solidFill>
                  <a:schemeClr val="bg1"/>
                </a:solidFill>
              </a:rPr>
              <a:t>) AS </a:t>
            </a:r>
            <a:r>
              <a:rPr lang="en-US" dirty="0" err="1">
                <a:solidFill>
                  <a:schemeClr val="bg1"/>
                </a:solidFill>
              </a:rPr>
              <a:t>delay_rank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order_delay</a:t>
            </a:r>
            <a:r>
              <a:rPr lang="en-US" dirty="0">
                <a:solidFill>
                  <a:schemeClr val="bg1"/>
                </a:solidFill>
              </a:rPr>
              <a:t>) t </a:t>
            </a:r>
            <a:r>
              <a:rPr lang="en-US" dirty="0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delay_rank</a:t>
            </a:r>
            <a:r>
              <a:rPr lang="en-US" dirty="0">
                <a:solidFill>
                  <a:schemeClr val="bg1"/>
                </a:solidFill>
              </a:rPr>
              <a:t> &lt;= </a:t>
            </a:r>
            <a:r>
              <a:rPr lang="en-US" dirty="0">
                <a:solidFill>
                  <a:srgbClr val="996633"/>
                </a:solidFill>
              </a:rPr>
              <a:t>3</a:t>
            </a:r>
            <a:r>
              <a:rPr lang="en-US" dirty="0">
                <a:solidFill>
                  <a:schemeClr val="bg1"/>
                </a:solidFill>
              </a:rPr>
              <a:t>;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D6FE3-0656-5592-6563-9C630A540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3" y="3526971"/>
            <a:ext cx="3402008" cy="315525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23911D2-9276-F361-66F4-E924AB319DAC}"/>
              </a:ext>
            </a:extLst>
          </p:cNvPr>
          <p:cNvSpPr/>
          <p:nvPr/>
        </p:nvSpPr>
        <p:spPr>
          <a:xfrm>
            <a:off x="250374" y="1469571"/>
            <a:ext cx="4288970" cy="194310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Ranking all orders by delay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/>
              <a:t>	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order_id,warehouse_id,delay_days</a:t>
            </a:r>
            <a:r>
              <a:rPr lang="en-US" sz="1600" dirty="0"/>
              <a:t>, 	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RANK</a:t>
            </a:r>
            <a:r>
              <a:rPr lang="en-US" sz="1600" dirty="0">
                <a:solidFill>
                  <a:schemeClr val="bg1"/>
                </a:solidFill>
              </a:rPr>
              <a:t>() </a:t>
            </a:r>
            <a:r>
              <a:rPr lang="en-US" sz="1600" dirty="0">
                <a:solidFill>
                  <a:srgbClr val="00B0F0"/>
                </a:solidFill>
              </a:rPr>
              <a:t>OVER 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B0F0"/>
                </a:solidFill>
              </a:rPr>
              <a:t>PARTITION BY </a:t>
            </a:r>
            <a:r>
              <a:rPr lang="en-US" sz="1600" dirty="0" err="1"/>
              <a:t>warehouse_id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ORDER BY </a:t>
            </a:r>
            <a:r>
              <a:rPr lang="en-US" sz="1600" dirty="0" err="1"/>
              <a:t>delay_days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DESC</a:t>
            </a:r>
            <a:r>
              <a:rPr lang="en-US" sz="1600" dirty="0"/>
              <a:t>) 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delay_rank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FROM</a:t>
            </a:r>
            <a:r>
              <a:rPr lang="en-US" sz="1600" dirty="0"/>
              <a:t> </a:t>
            </a:r>
            <a:r>
              <a:rPr lang="en-US" sz="1600" dirty="0" err="1"/>
              <a:t>order_delay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F484C7-23B0-B03D-B6F1-00F514338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706" y="174180"/>
            <a:ext cx="3402008" cy="315525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B45B71-0194-4F9F-96FD-920ADC083064}"/>
              </a:ext>
            </a:extLst>
          </p:cNvPr>
          <p:cNvSpPr/>
          <p:nvPr/>
        </p:nvSpPr>
        <p:spPr>
          <a:xfrm>
            <a:off x="250374" y="178816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Delivery Delay Analysis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4C15BEC-5434-0325-2057-80A8F1CDFAAA}"/>
              </a:ext>
            </a:extLst>
          </p:cNvPr>
          <p:cNvCxnSpPr>
            <a:cxnSpLocks/>
          </p:cNvCxnSpPr>
          <p:nvPr/>
        </p:nvCxnSpPr>
        <p:spPr>
          <a:xfrm>
            <a:off x="4713515" y="2350149"/>
            <a:ext cx="72514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DDFF2D-8AC0-1E0E-6C50-A54CF3F28A5D}"/>
              </a:ext>
            </a:extLst>
          </p:cNvPr>
          <p:cNvCxnSpPr>
            <a:cxnSpLocks/>
          </p:cNvCxnSpPr>
          <p:nvPr/>
        </p:nvCxnSpPr>
        <p:spPr>
          <a:xfrm>
            <a:off x="5138057" y="5343720"/>
            <a:ext cx="300604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618667-B51A-D65A-2209-05F1880A1BB5}"/>
              </a:ext>
            </a:extLst>
          </p:cNvPr>
          <p:cNvSpPr/>
          <p:nvPr/>
        </p:nvSpPr>
        <p:spPr>
          <a:xfrm>
            <a:off x="9196959" y="3526971"/>
            <a:ext cx="2820867" cy="315525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rgbClr val="662F6D"/>
                </a:solidFill>
              </a:rPr>
              <a:t>Analysis Approach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Used RANK() window function to rank orders by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Partitioned data by warehouse to compare internally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Identified top delayed orders within each warehouse</a:t>
            </a:r>
            <a:endParaRPr lang="en-US" dirty="0"/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C541F1C0-67C3-8341-6771-B5E0E89EC701}"/>
              </a:ext>
            </a:extLst>
          </p:cNvPr>
          <p:cNvSpPr/>
          <p:nvPr/>
        </p:nvSpPr>
        <p:spPr>
          <a:xfrm>
            <a:off x="9177510" y="118586"/>
            <a:ext cx="2840316" cy="2917363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Warehouse-level ranking shows that delays are concentrated among a few orders, indicating targeted operational issues rather than overall warehouse inefficiency.</a:t>
            </a:r>
            <a:endParaRPr lang="en-IN" sz="1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49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953F34-33F6-DF37-BCEF-8A40F5BA7DF9}"/>
              </a:ext>
            </a:extLst>
          </p:cNvPr>
          <p:cNvSpPr/>
          <p:nvPr/>
        </p:nvSpPr>
        <p:spPr>
          <a:xfrm>
            <a:off x="315686" y="250380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Delivery Delay Analysis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C0FDE8-8AF2-B1F7-A933-60DE0D4DDC5D}"/>
              </a:ext>
            </a:extLst>
          </p:cNvPr>
          <p:cNvSpPr/>
          <p:nvPr/>
        </p:nvSpPr>
        <p:spPr>
          <a:xfrm>
            <a:off x="315686" y="1524000"/>
            <a:ext cx="5486400" cy="451757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i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Most deliveries are completed on time, but delays are concentrated in specific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small number of routes contribute to the majority of delivery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Warehouse-level ranking shows delays are caused by specific orders, not overall inefficiency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Delay patterns suggest possible traffic congestion or poor route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warehouses repeatedly appear in delayed orders, indicating localized bottlenecks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1350-1C9C-3979-A532-D719DA941787}"/>
              </a:ext>
            </a:extLst>
          </p:cNvPr>
          <p:cNvSpPr/>
          <p:nvPr/>
        </p:nvSpPr>
        <p:spPr>
          <a:xfrm>
            <a:off x="6248400" y="1524000"/>
            <a:ext cx="5486400" cy="451757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i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Recommendations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Focus on optimizing high-delay routes instead of entire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route planning using traffic-aware 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Monitor and investigate frequently delayed orders for root causes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Enhance coordination in warehouses showing repeated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 real-time tracking and alerts for delayed shipments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5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614E67-4AC0-8BEE-A965-D29E08F8E495}"/>
              </a:ext>
            </a:extLst>
          </p:cNvPr>
          <p:cNvSpPr/>
          <p:nvPr/>
        </p:nvSpPr>
        <p:spPr>
          <a:xfrm>
            <a:off x="212274" y="1152904"/>
            <a:ext cx="5219698" cy="2645884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Route Performance Metrics Analysis</a:t>
            </a:r>
          </a:p>
          <a:p>
            <a:endParaRPr lang="en-IN" b="1" u="sng" dirty="0">
              <a:solidFill>
                <a:srgbClr val="00B0F0"/>
              </a:solidFill>
            </a:endParaRPr>
          </a:p>
          <a:p>
            <a:r>
              <a:rPr lang="en-IN" sz="1600" dirty="0">
                <a:solidFill>
                  <a:srgbClr val="00B0F0"/>
                </a:solidFill>
              </a:rPr>
              <a:t>SELECT </a:t>
            </a:r>
          </a:p>
          <a:p>
            <a:r>
              <a:rPr lang="en-IN" sz="1600" dirty="0">
                <a:solidFill>
                  <a:srgbClr val="00B0F0"/>
                </a:solidFill>
              </a:rPr>
              <a:t>	</a:t>
            </a:r>
            <a:r>
              <a:rPr lang="en-IN" sz="1600" dirty="0" err="1"/>
              <a:t>o.route_id</a:t>
            </a:r>
            <a:r>
              <a:rPr lang="en-IN" sz="1600" dirty="0"/>
              <a:t>, </a:t>
            </a:r>
          </a:p>
          <a:p>
            <a:r>
              <a:rPr lang="en-IN" sz="1600" dirty="0">
                <a:solidFill>
                  <a:srgbClr val="00B0F0"/>
                </a:solidFill>
              </a:rPr>
              <a:t>	AVG</a:t>
            </a:r>
            <a:r>
              <a:rPr lang="en-IN" sz="1600" dirty="0"/>
              <a:t>(</a:t>
            </a:r>
            <a:r>
              <a:rPr lang="en-IN" sz="1600" dirty="0">
                <a:solidFill>
                  <a:srgbClr val="996633"/>
                </a:solidFill>
              </a:rPr>
              <a:t>DATEDIFF</a:t>
            </a:r>
            <a:r>
              <a:rPr lang="en-IN" sz="1600" dirty="0"/>
              <a:t>(</a:t>
            </a:r>
            <a:r>
              <a:rPr lang="en-IN" sz="1600" dirty="0" err="1"/>
              <a:t>o.actual_delivery_date</a:t>
            </a:r>
            <a:r>
              <a:rPr lang="en-IN" sz="1600" dirty="0"/>
              <a:t>, </a:t>
            </a:r>
            <a:r>
              <a:rPr lang="en-IN" sz="1600" dirty="0" err="1"/>
              <a:t>o.order_date</a:t>
            </a:r>
            <a:r>
              <a:rPr lang="en-IN" sz="1600" dirty="0"/>
              <a:t>)) 	</a:t>
            </a:r>
          </a:p>
          <a:p>
            <a:r>
              <a:rPr lang="en-IN" sz="1600" dirty="0">
                <a:solidFill>
                  <a:srgbClr val="00B0F0"/>
                </a:solidFill>
              </a:rPr>
              <a:t>	AS</a:t>
            </a:r>
            <a:r>
              <a:rPr lang="en-IN" sz="1600" dirty="0"/>
              <a:t> </a:t>
            </a:r>
            <a:r>
              <a:rPr lang="en-IN" sz="1600" dirty="0" err="1"/>
              <a:t>avg_delivery_time_days</a:t>
            </a:r>
            <a:r>
              <a:rPr lang="en-IN" sz="1600" dirty="0"/>
              <a:t>,    </a:t>
            </a:r>
            <a:r>
              <a:rPr lang="en-IN" sz="1600" dirty="0">
                <a:solidFill>
                  <a:srgbClr val="00B0F0"/>
                </a:solidFill>
              </a:rPr>
              <a:t>AVG</a:t>
            </a:r>
            <a:r>
              <a:rPr lang="en-IN" sz="1600" dirty="0"/>
              <a:t>(</a:t>
            </a:r>
            <a:r>
              <a:rPr lang="en-IN" sz="1600" dirty="0" err="1"/>
              <a:t>r.traffic_delay_min</a:t>
            </a:r>
            <a:r>
              <a:rPr lang="en-IN" sz="1600" dirty="0"/>
              <a:t>) 	</a:t>
            </a:r>
          </a:p>
          <a:p>
            <a:r>
              <a:rPr lang="en-IN" sz="1600" dirty="0">
                <a:solidFill>
                  <a:srgbClr val="00B0F0"/>
                </a:solidFill>
              </a:rPr>
              <a:t>	AS</a:t>
            </a:r>
            <a:r>
              <a:rPr lang="en-IN" sz="1600" dirty="0"/>
              <a:t> </a:t>
            </a:r>
            <a:r>
              <a:rPr lang="en-IN" sz="1600" dirty="0" err="1"/>
              <a:t>avg_traffic_delay</a:t>
            </a:r>
            <a:r>
              <a:rPr lang="en-IN" sz="1600" dirty="0"/>
              <a:t>,    </a:t>
            </a:r>
            <a:r>
              <a:rPr lang="en-IN" sz="1600" dirty="0">
                <a:solidFill>
                  <a:srgbClr val="00B0F0"/>
                </a:solidFill>
              </a:rPr>
              <a:t>AVG</a:t>
            </a:r>
            <a:r>
              <a:rPr lang="en-IN" sz="1600" dirty="0"/>
              <a:t>(</a:t>
            </a:r>
            <a:r>
              <a:rPr lang="en-IN" sz="1600" dirty="0" err="1"/>
              <a:t>r.distance_km</a:t>
            </a:r>
            <a:r>
              <a:rPr lang="en-IN" sz="1600" dirty="0"/>
              <a:t> / 	</a:t>
            </a:r>
            <a:r>
              <a:rPr lang="en-IN" sz="1600" dirty="0" err="1"/>
              <a:t>r.average_travel_time_min</a:t>
            </a:r>
            <a:r>
              <a:rPr lang="en-IN" sz="1600" dirty="0"/>
              <a:t>) </a:t>
            </a:r>
            <a:r>
              <a:rPr lang="en-IN" sz="1600" dirty="0">
                <a:solidFill>
                  <a:srgbClr val="00B0F0"/>
                </a:solidFill>
              </a:rPr>
              <a:t>AS</a:t>
            </a:r>
            <a:r>
              <a:rPr lang="en-IN" sz="1600" dirty="0"/>
              <a:t> </a:t>
            </a:r>
            <a:r>
              <a:rPr lang="en-IN" sz="1600" dirty="0" err="1"/>
              <a:t>efficiency_ratio</a:t>
            </a:r>
            <a:endParaRPr lang="en-IN" sz="1600" dirty="0"/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FROM</a:t>
            </a:r>
            <a:r>
              <a:rPr lang="en-IN" sz="1600" dirty="0"/>
              <a:t> orders o </a:t>
            </a:r>
            <a:r>
              <a:rPr lang="en-IN" sz="1600" dirty="0">
                <a:solidFill>
                  <a:srgbClr val="00B0F0"/>
                </a:solidFill>
              </a:rPr>
              <a:t>JOIN</a:t>
            </a:r>
            <a:r>
              <a:rPr lang="en-IN" sz="1600" dirty="0"/>
              <a:t> routes r </a:t>
            </a:r>
          </a:p>
          <a:p>
            <a:r>
              <a:rPr lang="en-IN" sz="1600" dirty="0">
                <a:solidFill>
                  <a:srgbClr val="00B0F0"/>
                </a:solidFill>
              </a:rPr>
              <a:t>	ON</a:t>
            </a:r>
            <a:r>
              <a:rPr lang="en-IN" sz="1600" dirty="0"/>
              <a:t> </a:t>
            </a:r>
            <a:r>
              <a:rPr lang="en-IN" sz="1600" dirty="0" err="1"/>
              <a:t>o.route_id</a:t>
            </a:r>
            <a:r>
              <a:rPr lang="en-IN" sz="1600" dirty="0"/>
              <a:t> = </a:t>
            </a:r>
            <a:r>
              <a:rPr lang="en-IN" sz="1600" dirty="0" err="1"/>
              <a:t>r.route_id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GROUP BY </a:t>
            </a:r>
            <a:r>
              <a:rPr lang="en-IN" sz="1600" dirty="0" err="1"/>
              <a:t>o.route_id</a:t>
            </a:r>
            <a:r>
              <a:rPr lang="en-IN" sz="1600" dirty="0"/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775FD-4BCD-F0D7-331B-4EEBAD9C8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573" y="997758"/>
            <a:ext cx="3256546" cy="264588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546E49-904A-EE1E-BE10-74492C6C35FD}"/>
              </a:ext>
            </a:extLst>
          </p:cNvPr>
          <p:cNvSpPr/>
          <p:nvPr/>
        </p:nvSpPr>
        <p:spPr>
          <a:xfrm>
            <a:off x="212273" y="4267661"/>
            <a:ext cx="4762498" cy="2014049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 Worst Efficiency Routes Identification</a:t>
            </a:r>
          </a:p>
          <a:p>
            <a:endParaRPr lang="en-IN" dirty="0"/>
          </a:p>
          <a:p>
            <a:r>
              <a:rPr lang="en-IN" sz="1600" dirty="0">
                <a:solidFill>
                  <a:srgbClr val="00B0F0"/>
                </a:solidFill>
              </a:rPr>
              <a:t>SELECT</a:t>
            </a:r>
            <a:r>
              <a:rPr lang="en-IN" sz="1600" dirty="0"/>
              <a:t>     </a:t>
            </a:r>
          </a:p>
          <a:p>
            <a:r>
              <a:rPr lang="en-IN" sz="1600" dirty="0"/>
              <a:t>	</a:t>
            </a:r>
            <a:r>
              <a:rPr lang="en-IN" sz="1600" dirty="0" err="1"/>
              <a:t>o.route_id</a:t>
            </a:r>
            <a:r>
              <a:rPr lang="en-IN" sz="1600" dirty="0"/>
              <a:t>,   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AVG</a:t>
            </a:r>
            <a:r>
              <a:rPr lang="en-IN" sz="1600" dirty="0"/>
              <a:t>(</a:t>
            </a:r>
            <a:r>
              <a:rPr lang="en-IN" sz="1600" dirty="0" err="1"/>
              <a:t>r.distance_km</a:t>
            </a:r>
            <a:r>
              <a:rPr lang="en-IN" sz="1600" dirty="0"/>
              <a:t> / </a:t>
            </a:r>
            <a:r>
              <a:rPr lang="en-IN" sz="1600" dirty="0" err="1"/>
              <a:t>r.average_travel_time_min</a:t>
            </a:r>
            <a:r>
              <a:rPr lang="en-IN" sz="1600" dirty="0"/>
              <a:t>) 	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AS</a:t>
            </a:r>
            <a:r>
              <a:rPr lang="en-IN" sz="1600" dirty="0"/>
              <a:t> </a:t>
            </a:r>
            <a:r>
              <a:rPr lang="en-IN" sz="1600" dirty="0" err="1"/>
              <a:t>efficiency_ratio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FROM</a:t>
            </a:r>
            <a:r>
              <a:rPr lang="en-IN" sz="1600" dirty="0"/>
              <a:t> orders o </a:t>
            </a:r>
            <a:r>
              <a:rPr lang="en-IN" sz="1600" dirty="0">
                <a:solidFill>
                  <a:srgbClr val="00B0F0"/>
                </a:solidFill>
              </a:rPr>
              <a:t>JOIN</a:t>
            </a:r>
            <a:r>
              <a:rPr lang="en-IN" sz="1600" dirty="0"/>
              <a:t> routes r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o.route_id</a:t>
            </a:r>
            <a:r>
              <a:rPr lang="en-IN" sz="1600" dirty="0"/>
              <a:t> = </a:t>
            </a:r>
            <a:r>
              <a:rPr lang="en-IN" sz="1600" dirty="0" err="1"/>
              <a:t>r.route_id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GROUP BY </a:t>
            </a:r>
            <a:r>
              <a:rPr lang="en-IN" sz="1600" dirty="0" err="1"/>
              <a:t>o.route_id</a:t>
            </a:r>
            <a:r>
              <a:rPr lang="en-IN" sz="1600" dirty="0"/>
              <a:t>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ORDER BY </a:t>
            </a:r>
            <a:r>
              <a:rPr lang="en-IN" sz="1600" dirty="0" err="1"/>
              <a:t>efficiency_ratio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ASC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LIMIT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996633"/>
                </a:solidFill>
              </a:rPr>
              <a:t>3</a:t>
            </a:r>
            <a:r>
              <a:rPr lang="en-IN" sz="1600" dirty="0"/>
              <a:t>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2C660B-A9BC-8C37-1AF9-AAC4D6C0A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487" y="4588791"/>
            <a:ext cx="2276793" cy="137179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8B19B3-7489-F9F5-4618-610583DFF46F}"/>
              </a:ext>
            </a:extLst>
          </p:cNvPr>
          <p:cNvSpPr/>
          <p:nvPr/>
        </p:nvSpPr>
        <p:spPr>
          <a:xfrm>
            <a:off x="212273" y="174180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Route Optimization Insights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AC0705-8163-F5DE-522D-A647F5FBA951}"/>
              </a:ext>
            </a:extLst>
          </p:cNvPr>
          <p:cNvCxnSpPr>
            <a:cxnSpLocks/>
          </p:cNvCxnSpPr>
          <p:nvPr/>
        </p:nvCxnSpPr>
        <p:spPr>
          <a:xfrm>
            <a:off x="5105401" y="5409034"/>
            <a:ext cx="3265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0BAE4A-DF07-DEC6-97D9-B9CA27F2BCA2}"/>
              </a:ext>
            </a:extLst>
          </p:cNvPr>
          <p:cNvCxnSpPr>
            <a:cxnSpLocks/>
          </p:cNvCxnSpPr>
          <p:nvPr/>
        </p:nvCxnSpPr>
        <p:spPr>
          <a:xfrm>
            <a:off x="5573487" y="2698492"/>
            <a:ext cx="19594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489FB-77DA-A863-9223-C0814A675B81}"/>
              </a:ext>
            </a:extLst>
          </p:cNvPr>
          <p:cNvSpPr/>
          <p:nvPr/>
        </p:nvSpPr>
        <p:spPr>
          <a:xfrm>
            <a:off x="7991795" y="3798788"/>
            <a:ext cx="3987933" cy="279762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rgbClr val="662F6D"/>
                </a:solidFill>
              </a:rPr>
              <a:t>Analysis Approach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Calculated average delivery time for each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Measured average traffic delay across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Computed efficiency ratio using </a:t>
            </a:r>
            <a:r>
              <a:rPr lang="en-US" dirty="0" err="1">
                <a:solidFill>
                  <a:schemeClr val="bg1"/>
                </a:solidFill>
              </a:rPr>
              <a:t>Distance_KM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lang="en-US" dirty="0" err="1">
                <a:solidFill>
                  <a:schemeClr val="bg1"/>
                </a:solidFill>
              </a:rPr>
              <a:t>Average_Travel_Time_Min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Compared route efficiency to identify low-performing routes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74849E59-72C6-364D-E5F8-95996B718EA5}"/>
              </a:ext>
            </a:extLst>
          </p:cNvPr>
          <p:cNvSpPr/>
          <p:nvPr/>
        </p:nvSpPr>
        <p:spPr>
          <a:xfrm>
            <a:off x="9258263" y="423386"/>
            <a:ext cx="2840316" cy="2917363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Routes with low efficiency ratios and high traffic delays require optimization to improve delivery performance.</a:t>
            </a:r>
            <a:endParaRPr lang="en-US" sz="1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942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6CF01-C124-5ECF-0622-15A3069CDC76}"/>
              </a:ext>
            </a:extLst>
          </p:cNvPr>
          <p:cNvSpPr/>
          <p:nvPr/>
        </p:nvSpPr>
        <p:spPr>
          <a:xfrm>
            <a:off x="212273" y="1175658"/>
            <a:ext cx="6863441" cy="289560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High Delay Route Analysis</a:t>
            </a:r>
          </a:p>
          <a:p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SELECT </a:t>
            </a:r>
          </a:p>
          <a:p>
            <a:r>
              <a:rPr lang="en-US" dirty="0"/>
              <a:t>	</a:t>
            </a:r>
            <a:r>
              <a:rPr lang="en-US" dirty="0" err="1"/>
              <a:t>route_id</a:t>
            </a:r>
            <a:r>
              <a:rPr lang="en-US" dirty="0"/>
              <a:t>,    </a:t>
            </a:r>
            <a:r>
              <a:rPr lang="en-US" dirty="0">
                <a:solidFill>
                  <a:srgbClr val="00B0F0"/>
                </a:solidFill>
              </a:rPr>
              <a:t>COUNT</a:t>
            </a:r>
            <a:r>
              <a:rPr lang="en-US" dirty="0"/>
              <a:t>(*) AS </a:t>
            </a:r>
            <a:r>
              <a:rPr lang="en-US" dirty="0" err="1"/>
              <a:t>total_orders</a:t>
            </a:r>
            <a:r>
              <a:rPr lang="en-US" dirty="0"/>
              <a:t>,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SUM</a:t>
            </a:r>
            <a:r>
              <a:rPr lang="en-US" dirty="0"/>
              <a:t>(</a:t>
            </a:r>
            <a:r>
              <a:rPr lang="en-US" dirty="0">
                <a:solidFill>
                  <a:srgbClr val="00B0F0"/>
                </a:solidFill>
              </a:rPr>
              <a:t>CASE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WHEN</a:t>
            </a:r>
            <a:r>
              <a:rPr lang="en-US" dirty="0"/>
              <a:t> </a:t>
            </a:r>
            <a:r>
              <a:rPr lang="en-US" dirty="0" err="1"/>
              <a:t>actual_delivery_date</a:t>
            </a:r>
            <a:r>
              <a:rPr lang="en-US" dirty="0"/>
              <a:t> &gt; </a:t>
            </a:r>
            <a:r>
              <a:rPr lang="en-US" dirty="0" err="1"/>
              <a:t>expected_delivery_date</a:t>
            </a:r>
            <a:r>
              <a:rPr lang="en-US" dirty="0"/>
              <a:t> 	</a:t>
            </a:r>
            <a:r>
              <a:rPr lang="en-US" dirty="0">
                <a:solidFill>
                  <a:srgbClr val="00B0F0"/>
                </a:solidFill>
              </a:rPr>
              <a:t>THEN</a:t>
            </a:r>
            <a:r>
              <a:rPr lang="en-US" dirty="0"/>
              <a:t> 1 </a:t>
            </a:r>
            <a:r>
              <a:rPr lang="en-US" dirty="0">
                <a:solidFill>
                  <a:srgbClr val="00B0F0"/>
                </a:solidFill>
              </a:rPr>
              <a:t>ELSE</a:t>
            </a:r>
            <a:r>
              <a:rPr lang="en-US" dirty="0"/>
              <a:t> 0 </a:t>
            </a:r>
            <a:r>
              <a:rPr lang="en-US" dirty="0">
                <a:solidFill>
                  <a:srgbClr val="00B0F0"/>
                </a:solidFill>
              </a:rPr>
              <a:t>END</a:t>
            </a:r>
            <a:r>
              <a:rPr lang="en-US" dirty="0"/>
              <a:t>) </a:t>
            </a:r>
            <a:r>
              <a:rPr lang="en-US" dirty="0">
                <a:solidFill>
                  <a:srgbClr val="00B0F0"/>
                </a:solidFill>
              </a:rPr>
              <a:t>AS</a:t>
            </a:r>
            <a:r>
              <a:rPr lang="en-US" dirty="0"/>
              <a:t> </a:t>
            </a:r>
            <a:r>
              <a:rPr lang="en-US" dirty="0" err="1"/>
              <a:t>delayed_orders</a:t>
            </a:r>
            <a:r>
              <a:rPr lang="en-US" dirty="0"/>
              <a:t>, </a:t>
            </a:r>
          </a:p>
          <a:p>
            <a:r>
              <a:rPr lang="en-US" dirty="0"/>
              <a:t>	(</a:t>
            </a:r>
            <a:r>
              <a:rPr lang="en-US" dirty="0">
                <a:solidFill>
                  <a:srgbClr val="00B0F0"/>
                </a:solidFill>
              </a:rPr>
              <a:t>SUM</a:t>
            </a:r>
            <a:r>
              <a:rPr lang="en-US" dirty="0"/>
              <a:t>(</a:t>
            </a:r>
            <a:r>
              <a:rPr lang="en-US" dirty="0">
                <a:solidFill>
                  <a:srgbClr val="00B0F0"/>
                </a:solidFill>
              </a:rPr>
              <a:t>CASE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WHEN</a:t>
            </a:r>
            <a:r>
              <a:rPr lang="en-US" dirty="0"/>
              <a:t> </a:t>
            </a:r>
            <a:r>
              <a:rPr lang="en-US" dirty="0" err="1"/>
              <a:t>actual_delivery_date</a:t>
            </a:r>
            <a:r>
              <a:rPr lang="en-US" dirty="0"/>
              <a:t> &gt; </a:t>
            </a:r>
            <a:r>
              <a:rPr lang="en-US" dirty="0" err="1"/>
              <a:t>expected_delivery_date</a:t>
            </a:r>
            <a:r>
              <a:rPr lang="en-US" dirty="0"/>
              <a:t> 	</a:t>
            </a:r>
            <a:r>
              <a:rPr lang="en-US" dirty="0">
                <a:solidFill>
                  <a:srgbClr val="00B0F0"/>
                </a:solidFill>
              </a:rPr>
              <a:t>THEN</a:t>
            </a:r>
            <a:r>
              <a:rPr lang="en-US" dirty="0"/>
              <a:t> 1 </a:t>
            </a:r>
            <a:r>
              <a:rPr lang="en-US" dirty="0">
                <a:solidFill>
                  <a:srgbClr val="00B0F0"/>
                </a:solidFill>
              </a:rPr>
              <a:t>ELSE</a:t>
            </a:r>
            <a:r>
              <a:rPr lang="en-US" dirty="0"/>
              <a:t> 0 </a:t>
            </a:r>
            <a:r>
              <a:rPr lang="en-US" dirty="0">
                <a:solidFill>
                  <a:srgbClr val="00B0F0"/>
                </a:solidFill>
              </a:rPr>
              <a:t>END</a:t>
            </a:r>
            <a:r>
              <a:rPr lang="en-US" dirty="0"/>
              <a:t>) * 100.0 / </a:t>
            </a:r>
            <a:r>
              <a:rPr lang="en-US" dirty="0">
                <a:solidFill>
                  <a:srgbClr val="00B0F0"/>
                </a:solidFill>
              </a:rPr>
              <a:t>COUNT</a:t>
            </a:r>
            <a:r>
              <a:rPr lang="en-US" dirty="0"/>
              <a:t>(*))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AS</a:t>
            </a:r>
            <a:r>
              <a:rPr lang="en-US" dirty="0"/>
              <a:t> </a:t>
            </a:r>
            <a:r>
              <a:rPr lang="en-US" dirty="0" err="1"/>
              <a:t>delay_percent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/>
              <a:t> orders </a:t>
            </a:r>
            <a:r>
              <a:rPr lang="en-US" dirty="0">
                <a:solidFill>
                  <a:srgbClr val="00B0F0"/>
                </a:solidFill>
              </a:rPr>
              <a:t>GROUP BY</a:t>
            </a:r>
            <a:r>
              <a:rPr lang="en-US" dirty="0"/>
              <a:t> </a:t>
            </a:r>
            <a:r>
              <a:rPr lang="en-US" dirty="0" err="1"/>
              <a:t>route_id</a:t>
            </a:r>
            <a:r>
              <a:rPr lang="en-US" dirty="0"/>
              <a:t>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HAVING</a:t>
            </a:r>
            <a:r>
              <a:rPr lang="en-US" dirty="0"/>
              <a:t> </a:t>
            </a:r>
            <a:r>
              <a:rPr lang="en-US" dirty="0" err="1"/>
              <a:t>delay_percent</a:t>
            </a:r>
            <a:r>
              <a:rPr lang="en-US" dirty="0"/>
              <a:t> &gt; 20;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0064C-3C55-1235-7756-CD6FEF3AB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029" y="881744"/>
            <a:ext cx="4076698" cy="318951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B4212BD-F7DF-E72A-40AC-EED4689BE7E7}"/>
              </a:ext>
            </a:extLst>
          </p:cNvPr>
          <p:cNvSpPr/>
          <p:nvPr/>
        </p:nvSpPr>
        <p:spPr>
          <a:xfrm>
            <a:off x="212273" y="174180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Route Optimization Insights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05F8405-B054-F555-4334-493C55A025A0}"/>
              </a:ext>
            </a:extLst>
          </p:cNvPr>
          <p:cNvCxnSpPr>
            <a:cxnSpLocks/>
          </p:cNvCxnSpPr>
          <p:nvPr/>
        </p:nvCxnSpPr>
        <p:spPr>
          <a:xfrm>
            <a:off x="7326087" y="2709376"/>
            <a:ext cx="3265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BD6FD57-F722-188D-5080-5698519488AE}"/>
              </a:ext>
            </a:extLst>
          </p:cNvPr>
          <p:cNvSpPr/>
          <p:nvPr/>
        </p:nvSpPr>
        <p:spPr>
          <a:xfrm>
            <a:off x="212273" y="4893132"/>
            <a:ext cx="5856514" cy="1578419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rgbClr val="662F6D"/>
                </a:solidFill>
              </a:rPr>
              <a:t>Analysis Approach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Calculated delayed shipment percentage for each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Identified routes with more than 20% delayed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Highlighted high-risk routes for operational improvement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43DF7253-C6B0-45F3-7651-8AF08369710F}"/>
              </a:ext>
            </a:extLst>
          </p:cNvPr>
          <p:cNvSpPr/>
          <p:nvPr/>
        </p:nvSpPr>
        <p:spPr>
          <a:xfrm rot="10800000">
            <a:off x="9067800" y="4321629"/>
            <a:ext cx="1502229" cy="1240964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523627-CF84-8984-2A88-A0AA236E50B0}"/>
              </a:ext>
            </a:extLst>
          </p:cNvPr>
          <p:cNvSpPr/>
          <p:nvPr/>
        </p:nvSpPr>
        <p:spPr>
          <a:xfrm>
            <a:off x="7565572" y="4321629"/>
            <a:ext cx="3788228" cy="24383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b="1" dirty="0">
                <a:solidFill>
                  <a:schemeClr val="bg1"/>
                </a:solidFill>
              </a:rPr>
              <a:t>Routes with high delay percentages require immediate optimization to improve on-time delivery performance.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55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A07B48-3C0E-DA33-0449-A8FF3C5C3A5A}"/>
              </a:ext>
            </a:extLst>
          </p:cNvPr>
          <p:cNvSpPr/>
          <p:nvPr/>
        </p:nvSpPr>
        <p:spPr>
          <a:xfrm>
            <a:off x="212273" y="174180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Route Optimization Insights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54FBA-3BA6-B725-D0D6-79D3518EC7C6}"/>
              </a:ext>
            </a:extLst>
          </p:cNvPr>
          <p:cNvSpPr/>
          <p:nvPr/>
        </p:nvSpPr>
        <p:spPr>
          <a:xfrm>
            <a:off x="212273" y="1921324"/>
            <a:ext cx="5442857" cy="3924305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i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Insights</a:t>
            </a:r>
          </a:p>
          <a:p>
            <a:endParaRPr lang="en-US" sz="2800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Several routes have high delivery delays and poor efficiency ratios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Traffic congestion is a major factor affecting route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RT_13, RT_14, and RT_03 are the least efficient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Some routes exceed 20% delayed shipments, affecting delivery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Inefficient route planning increases delivery time and operational cost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9B0FD6-2694-529B-75AB-EDC5CE6B0C03}"/>
              </a:ext>
            </a:extLst>
          </p:cNvPr>
          <p:cNvSpPr/>
          <p:nvPr/>
        </p:nvSpPr>
        <p:spPr>
          <a:xfrm>
            <a:off x="6226630" y="1921324"/>
            <a:ext cx="5753098" cy="3924305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i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Optimize low-efficiency routes using alternate path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Schedule deliveries during low-traffic hours to reduce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Monitor high-delay routes regularly through KPI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route allocation based on traffic and travel time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real-time traffic data for smarter delivery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Prioritize operational improvements on routes with high delay percentages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Enhance coordination between warehouses and delivery teams</a:t>
            </a:r>
          </a:p>
        </p:txBody>
      </p:sp>
    </p:spTree>
    <p:extLst>
      <p:ext uri="{BB962C8B-B14F-4D97-AF65-F5344CB8AC3E}">
        <p14:creationId xmlns:p14="http://schemas.microsoft.com/office/powerpoint/2010/main" val="328758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FDA240-8FC3-916B-30B9-3EBC53B390B9}"/>
              </a:ext>
            </a:extLst>
          </p:cNvPr>
          <p:cNvSpPr/>
          <p:nvPr/>
        </p:nvSpPr>
        <p:spPr>
          <a:xfrm>
            <a:off x="212273" y="1297140"/>
            <a:ext cx="5197926" cy="2445797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Top 3 Highest Average Processing Time</a:t>
            </a:r>
          </a:p>
          <a:p>
            <a:endParaRPr lang="en-US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rgbClr val="00B0F0"/>
                </a:solidFill>
              </a:rPr>
              <a:t>SELECT </a:t>
            </a:r>
            <a:r>
              <a:rPr lang="en-US" sz="1600" dirty="0"/>
              <a:t>   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warehouse_id</a:t>
            </a:r>
            <a:r>
              <a:rPr lang="en-US" sz="1600" dirty="0"/>
              <a:t>,    	</a:t>
            </a:r>
            <a:r>
              <a:rPr lang="en-US" sz="1600" dirty="0">
                <a:solidFill>
                  <a:srgbClr val="00B0F0"/>
                </a:solidFill>
              </a:rPr>
              <a:t>AVG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996633"/>
                </a:solidFill>
              </a:rPr>
              <a:t>DATEDIFF</a:t>
            </a:r>
            <a:r>
              <a:rPr lang="en-US" sz="1600" dirty="0"/>
              <a:t>(</a:t>
            </a:r>
            <a:r>
              <a:rPr lang="en-US" sz="1600" dirty="0" err="1"/>
              <a:t>actual_delivery_date</a:t>
            </a:r>
            <a:r>
              <a:rPr lang="en-US" sz="1600" dirty="0"/>
              <a:t>, </a:t>
            </a:r>
            <a:r>
              <a:rPr lang="en-US" sz="1600" dirty="0" err="1"/>
              <a:t>order_date</a:t>
            </a:r>
            <a:r>
              <a:rPr lang="en-US" sz="1600" dirty="0"/>
              <a:t>)) 	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avg_processing_time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FROM</a:t>
            </a:r>
            <a:r>
              <a:rPr lang="en-US" sz="1600" dirty="0"/>
              <a:t> orders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GROUP BY </a:t>
            </a:r>
            <a:r>
              <a:rPr lang="en-US" sz="1600" dirty="0" err="1"/>
              <a:t>warehouse_id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ORDER BY </a:t>
            </a:r>
            <a:r>
              <a:rPr lang="en-US" sz="1600" dirty="0" err="1"/>
              <a:t>avg_processing_time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DESC LIMIT </a:t>
            </a:r>
            <a:r>
              <a:rPr lang="en-US" sz="1600" dirty="0">
                <a:solidFill>
                  <a:srgbClr val="996633"/>
                </a:solidFill>
              </a:rPr>
              <a:t>3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FEFDF-5DE2-CB1F-C06E-AA2D1E89A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846" y="1804541"/>
            <a:ext cx="2934640" cy="124794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5C1660-A8C4-E8EC-DE01-54691522312A}"/>
              </a:ext>
            </a:extLst>
          </p:cNvPr>
          <p:cNvSpPr/>
          <p:nvPr/>
        </p:nvSpPr>
        <p:spPr>
          <a:xfrm>
            <a:off x="212274" y="4278086"/>
            <a:ext cx="5197926" cy="1978949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Warehouse Shipment Delay Comparison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00B0F0"/>
                </a:solidFill>
              </a:rPr>
              <a:t>SELECT</a:t>
            </a:r>
            <a:r>
              <a:rPr lang="en-US" sz="1600" dirty="0"/>
              <a:t>    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warehouse_id</a:t>
            </a:r>
            <a:r>
              <a:rPr lang="en-US" sz="1600" dirty="0"/>
              <a:t>,  </a:t>
            </a:r>
            <a:r>
              <a:rPr lang="en-US" sz="1600" dirty="0">
                <a:solidFill>
                  <a:srgbClr val="996633"/>
                </a:solidFill>
              </a:rPr>
              <a:t>COUNT</a:t>
            </a:r>
            <a:r>
              <a:rPr lang="en-US" sz="1600" dirty="0"/>
              <a:t>(*) 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total_orders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996633"/>
                </a:solidFill>
              </a:rPr>
              <a:t>SUM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B0F0"/>
                </a:solidFill>
              </a:rPr>
              <a:t>CASE 	WHEN </a:t>
            </a:r>
            <a:r>
              <a:rPr lang="en-US" sz="1600" dirty="0" err="1"/>
              <a:t>actual_delivery_date</a:t>
            </a:r>
            <a:r>
              <a:rPr lang="en-US" sz="1600" dirty="0"/>
              <a:t> &gt; </a:t>
            </a:r>
            <a:r>
              <a:rPr lang="en-US" sz="1600" dirty="0" err="1"/>
              <a:t>expected_delivery_date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THEN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996633"/>
                </a:solidFill>
              </a:rPr>
              <a:t>1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ELSE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996633"/>
                </a:solidFill>
              </a:rPr>
              <a:t>0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END</a:t>
            </a:r>
            <a:r>
              <a:rPr lang="en-US" sz="1600" dirty="0"/>
              <a:t>) 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delayed_orders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FROM</a:t>
            </a:r>
            <a:r>
              <a:rPr lang="en-US" sz="1600" dirty="0"/>
              <a:t> orders </a:t>
            </a:r>
            <a:r>
              <a:rPr lang="en-US" sz="1600" dirty="0">
                <a:solidFill>
                  <a:srgbClr val="00B0F0"/>
                </a:solidFill>
              </a:rPr>
              <a:t>GROUP BY </a:t>
            </a:r>
            <a:r>
              <a:rPr lang="en-US" sz="1600" dirty="0" err="1"/>
              <a:t>warehouse_id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D07DB8-F773-20D8-E89F-3433E1E1D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846" y="4278085"/>
            <a:ext cx="2934640" cy="197894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B85C01-EE85-82ED-6B26-7D6B1789FAFB}"/>
              </a:ext>
            </a:extLst>
          </p:cNvPr>
          <p:cNvSpPr/>
          <p:nvPr/>
        </p:nvSpPr>
        <p:spPr>
          <a:xfrm>
            <a:off x="212273" y="269669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Warehouse Performance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84021-805F-8241-8713-861B9CEA3308}"/>
              </a:ext>
            </a:extLst>
          </p:cNvPr>
          <p:cNvSpPr/>
          <p:nvPr/>
        </p:nvSpPr>
        <p:spPr>
          <a:xfrm>
            <a:off x="8784771" y="4027714"/>
            <a:ext cx="3217669" cy="2688772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662F6D"/>
                </a:solidFill>
              </a:rPr>
              <a:t>Analysis Approach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Calculated average processing time for each warehouse using order and delivery 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Identified top 3 warehouses with the highest processing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Compared total shipments with delayed shipments across warehouses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1CBE93C3-8463-4572-8844-8192D08215D5}"/>
              </a:ext>
            </a:extLst>
          </p:cNvPr>
          <p:cNvSpPr/>
          <p:nvPr/>
        </p:nvSpPr>
        <p:spPr>
          <a:xfrm>
            <a:off x="8784771" y="345860"/>
            <a:ext cx="3293869" cy="2917363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Warehouses with higher processing times also show increased delayed shipments, indicating operational bottlenecks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affecting delivery performance.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A97C7A-E73C-D39E-B9D7-E539C2FD3621}"/>
              </a:ext>
            </a:extLst>
          </p:cNvPr>
          <p:cNvCxnSpPr>
            <a:cxnSpLocks/>
          </p:cNvCxnSpPr>
          <p:nvPr/>
        </p:nvCxnSpPr>
        <p:spPr>
          <a:xfrm>
            <a:off x="5480017" y="2428515"/>
            <a:ext cx="14151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5F8333-325B-A01F-13AB-9BB005AE4EDB}"/>
              </a:ext>
            </a:extLst>
          </p:cNvPr>
          <p:cNvCxnSpPr>
            <a:cxnSpLocks/>
          </p:cNvCxnSpPr>
          <p:nvPr/>
        </p:nvCxnSpPr>
        <p:spPr>
          <a:xfrm>
            <a:off x="5480016" y="5372100"/>
            <a:ext cx="14151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26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2B1042-CED9-41D2-E58C-A7787E5D01FC}"/>
              </a:ext>
            </a:extLst>
          </p:cNvPr>
          <p:cNvSpPr/>
          <p:nvPr/>
        </p:nvSpPr>
        <p:spPr>
          <a:xfrm>
            <a:off x="273699" y="1126671"/>
            <a:ext cx="6116215" cy="2302329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Bottleneck Warehouse Identification Using CTEs</a:t>
            </a:r>
            <a:endParaRPr lang="en-IN" sz="2000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  <a:p>
            <a:r>
              <a:rPr lang="en-IN" sz="1400" dirty="0">
                <a:solidFill>
                  <a:srgbClr val="00B0F0"/>
                </a:solidFill>
              </a:rPr>
              <a:t>WITH</a:t>
            </a:r>
            <a:r>
              <a:rPr lang="en-IN" sz="1400" dirty="0"/>
              <a:t> </a:t>
            </a:r>
            <a:r>
              <a:rPr lang="en-IN" sz="1400" dirty="0" err="1"/>
              <a:t>warehouse_avg</a:t>
            </a:r>
            <a:r>
              <a:rPr lang="en-IN" sz="1400" dirty="0"/>
              <a:t>  </a:t>
            </a:r>
            <a:r>
              <a:rPr lang="en-IN" sz="1400" dirty="0">
                <a:solidFill>
                  <a:srgbClr val="00B0F0"/>
                </a:solidFill>
              </a:rPr>
              <a:t>AS</a:t>
            </a:r>
            <a:r>
              <a:rPr lang="en-IN" sz="1400" dirty="0"/>
              <a:t> (</a:t>
            </a:r>
          </a:p>
          <a:p>
            <a:r>
              <a:rPr lang="en-IN" sz="1400" dirty="0">
                <a:solidFill>
                  <a:srgbClr val="00B0F0"/>
                </a:solidFill>
              </a:rPr>
              <a:t>SELECT</a:t>
            </a:r>
            <a:r>
              <a:rPr lang="en-IN" sz="1400" dirty="0"/>
              <a:t> </a:t>
            </a:r>
            <a:r>
              <a:rPr lang="en-IN" sz="1400" dirty="0" err="1"/>
              <a:t>warehouse_id</a:t>
            </a:r>
            <a:r>
              <a:rPr lang="en-IN" sz="1400" dirty="0"/>
              <a:t>,        	</a:t>
            </a:r>
          </a:p>
          <a:p>
            <a:r>
              <a:rPr lang="en-IN" sz="1400" dirty="0"/>
              <a:t>	</a:t>
            </a:r>
            <a:r>
              <a:rPr lang="en-IN" sz="1400" dirty="0">
                <a:solidFill>
                  <a:srgbClr val="00B0F0"/>
                </a:solidFill>
              </a:rPr>
              <a:t>AVG</a:t>
            </a:r>
            <a:r>
              <a:rPr lang="en-IN" sz="1400" dirty="0"/>
              <a:t>(</a:t>
            </a:r>
            <a:r>
              <a:rPr lang="en-IN" sz="1400" dirty="0">
                <a:solidFill>
                  <a:srgbClr val="996633"/>
                </a:solidFill>
              </a:rPr>
              <a:t>DATEDIFF</a:t>
            </a:r>
            <a:r>
              <a:rPr lang="en-IN" sz="1400" dirty="0"/>
              <a:t>(</a:t>
            </a:r>
            <a:r>
              <a:rPr lang="en-IN" sz="1400" dirty="0" err="1"/>
              <a:t>actual_delivery_date</a:t>
            </a:r>
            <a:r>
              <a:rPr lang="en-IN" sz="1400" dirty="0"/>
              <a:t>, </a:t>
            </a:r>
            <a:r>
              <a:rPr lang="en-IN" sz="1400" dirty="0" err="1"/>
              <a:t>order_date</a:t>
            </a:r>
            <a:r>
              <a:rPr lang="en-IN" sz="1400" dirty="0"/>
              <a:t>)) </a:t>
            </a:r>
            <a:r>
              <a:rPr lang="en-IN" sz="1400" dirty="0">
                <a:solidFill>
                  <a:srgbClr val="00B0F0"/>
                </a:solidFill>
              </a:rPr>
              <a:t>AS</a:t>
            </a:r>
            <a:r>
              <a:rPr lang="en-IN" sz="1400" dirty="0"/>
              <a:t> </a:t>
            </a:r>
            <a:r>
              <a:rPr lang="en-IN" sz="1400" dirty="0" err="1"/>
              <a:t>avg_processing_time</a:t>
            </a:r>
            <a:r>
              <a:rPr lang="en-IN" sz="1400" dirty="0"/>
              <a:t> </a:t>
            </a:r>
          </a:p>
          <a:p>
            <a:r>
              <a:rPr lang="en-IN" sz="1400" dirty="0"/>
              <a:t>	</a:t>
            </a:r>
            <a:r>
              <a:rPr lang="en-IN" sz="1400" dirty="0">
                <a:solidFill>
                  <a:srgbClr val="00B0F0"/>
                </a:solidFill>
              </a:rPr>
              <a:t>FROM</a:t>
            </a:r>
            <a:r>
              <a:rPr lang="en-IN" sz="1400" dirty="0"/>
              <a:t> orders </a:t>
            </a:r>
            <a:r>
              <a:rPr lang="en-IN" sz="1400" dirty="0">
                <a:solidFill>
                  <a:srgbClr val="00B0F0"/>
                </a:solidFill>
              </a:rPr>
              <a:t>GROUP BY </a:t>
            </a:r>
            <a:r>
              <a:rPr lang="en-IN" sz="1400" dirty="0" err="1"/>
              <a:t>warehouse_id</a:t>
            </a:r>
            <a:r>
              <a:rPr lang="en-IN" sz="1400" dirty="0"/>
              <a:t>),</a:t>
            </a:r>
            <a:r>
              <a:rPr lang="en-IN" sz="1400" dirty="0" err="1"/>
              <a:t>global_avg</a:t>
            </a:r>
            <a:r>
              <a:rPr lang="en-IN" sz="1400" dirty="0"/>
              <a:t> </a:t>
            </a:r>
            <a:r>
              <a:rPr lang="en-IN" sz="1400" dirty="0">
                <a:solidFill>
                  <a:srgbClr val="00B0F0"/>
                </a:solidFill>
              </a:rPr>
              <a:t>AS</a:t>
            </a:r>
            <a:r>
              <a:rPr lang="en-IN" sz="1400" dirty="0"/>
              <a:t> </a:t>
            </a:r>
          </a:p>
          <a:p>
            <a:r>
              <a:rPr lang="en-IN" sz="1400" dirty="0"/>
              <a:t>	( </a:t>
            </a:r>
            <a:r>
              <a:rPr lang="en-IN" sz="1400" dirty="0">
                <a:solidFill>
                  <a:srgbClr val="00B0F0"/>
                </a:solidFill>
              </a:rPr>
              <a:t>SELECT AVG</a:t>
            </a:r>
            <a:r>
              <a:rPr lang="en-IN" sz="1400" dirty="0"/>
              <a:t>(</a:t>
            </a:r>
            <a:r>
              <a:rPr lang="en-IN" sz="1400" dirty="0" err="1"/>
              <a:t>avg_processing_time</a:t>
            </a:r>
            <a:r>
              <a:rPr lang="en-IN" sz="1400" dirty="0"/>
              <a:t>) </a:t>
            </a:r>
            <a:r>
              <a:rPr lang="en-IN" sz="1400" dirty="0">
                <a:solidFill>
                  <a:srgbClr val="00B0F0"/>
                </a:solidFill>
              </a:rPr>
              <a:t>AS</a:t>
            </a:r>
            <a:r>
              <a:rPr lang="en-IN" sz="1400" dirty="0"/>
              <a:t> </a:t>
            </a:r>
            <a:r>
              <a:rPr lang="en-IN" sz="1400" dirty="0" err="1"/>
              <a:t>overall_avg</a:t>
            </a:r>
            <a:r>
              <a:rPr lang="en-IN" sz="1400" dirty="0"/>
              <a:t> </a:t>
            </a:r>
            <a:r>
              <a:rPr lang="en-IN" sz="1400" dirty="0">
                <a:solidFill>
                  <a:srgbClr val="00B0F0"/>
                </a:solidFill>
              </a:rPr>
              <a:t>FROM</a:t>
            </a:r>
            <a:r>
              <a:rPr lang="en-IN" sz="1400" dirty="0"/>
              <a:t> </a:t>
            </a:r>
            <a:r>
              <a:rPr lang="en-IN" sz="1400" dirty="0" err="1"/>
              <a:t>warehouse_avg</a:t>
            </a:r>
            <a:r>
              <a:rPr lang="en-IN" sz="1400" dirty="0"/>
              <a:t>) </a:t>
            </a:r>
          </a:p>
          <a:p>
            <a:r>
              <a:rPr lang="en-IN" sz="1400" dirty="0"/>
              <a:t>	</a:t>
            </a:r>
            <a:r>
              <a:rPr lang="en-IN" sz="1400" dirty="0">
                <a:solidFill>
                  <a:srgbClr val="00B0F0"/>
                </a:solidFill>
              </a:rPr>
              <a:t>SELECT</a:t>
            </a:r>
            <a:r>
              <a:rPr lang="en-IN" sz="1400" dirty="0"/>
              <a:t>*</a:t>
            </a:r>
            <a:r>
              <a:rPr lang="en-IN" sz="1400" dirty="0">
                <a:solidFill>
                  <a:srgbClr val="00B0F0"/>
                </a:solidFill>
              </a:rPr>
              <a:t>FROM</a:t>
            </a:r>
            <a:r>
              <a:rPr lang="en-IN" sz="1400" dirty="0"/>
              <a:t> </a:t>
            </a:r>
            <a:r>
              <a:rPr lang="en-IN" sz="1400" dirty="0" err="1"/>
              <a:t>warehouse_avg</a:t>
            </a:r>
            <a:r>
              <a:rPr lang="en-IN" sz="1400" dirty="0"/>
              <a:t>, </a:t>
            </a:r>
            <a:r>
              <a:rPr lang="en-IN" sz="1400" dirty="0" err="1"/>
              <a:t>global_avg</a:t>
            </a:r>
            <a:r>
              <a:rPr lang="en-IN" sz="1400" dirty="0"/>
              <a:t> </a:t>
            </a:r>
            <a:r>
              <a:rPr lang="en-IN" sz="1400" dirty="0">
                <a:solidFill>
                  <a:srgbClr val="00B0F0"/>
                </a:solidFill>
              </a:rPr>
              <a:t>WHERE</a:t>
            </a:r>
            <a:r>
              <a:rPr lang="en-IN" sz="1400" dirty="0"/>
              <a:t> 	</a:t>
            </a:r>
            <a:r>
              <a:rPr lang="en-IN" sz="1400" dirty="0" err="1"/>
              <a:t>warehouse_avg.avg_processing_time</a:t>
            </a:r>
            <a:r>
              <a:rPr lang="en-IN" sz="1400" dirty="0"/>
              <a:t> &gt; </a:t>
            </a:r>
            <a:r>
              <a:rPr lang="en-IN" sz="1400" dirty="0" err="1"/>
              <a:t>global_avg.overall_avg</a:t>
            </a:r>
            <a:r>
              <a:rPr lang="en-IN" sz="1400" dirty="0"/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230A2-2E22-765C-5FC7-7E534E42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383" y="1643742"/>
            <a:ext cx="2614903" cy="178525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C9F9DA0-CD81-5084-3FD6-0F129F5ECCAC}"/>
              </a:ext>
            </a:extLst>
          </p:cNvPr>
          <p:cNvSpPr/>
          <p:nvPr/>
        </p:nvSpPr>
        <p:spPr>
          <a:xfrm>
            <a:off x="273699" y="3975038"/>
            <a:ext cx="5354215" cy="2460172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Warehouse On-Time Delivery Ranking</a:t>
            </a:r>
            <a:endParaRPr lang="en-US" sz="2000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  <a:p>
            <a:r>
              <a:rPr lang="en-US" sz="1400" dirty="0">
                <a:solidFill>
                  <a:srgbClr val="00B0F0"/>
                </a:solidFill>
              </a:rPr>
              <a:t>SELECT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warehouse_id</a:t>
            </a:r>
            <a:r>
              <a:rPr lang="en-US" sz="1400" dirty="0"/>
              <a:t>, (</a:t>
            </a:r>
            <a:r>
              <a:rPr lang="en-US" sz="1400" dirty="0">
                <a:solidFill>
                  <a:srgbClr val="996633"/>
                </a:solidFill>
              </a:rPr>
              <a:t>SUM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00B0F0"/>
                </a:solidFill>
              </a:rPr>
              <a:t>CASE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WHEN</a:t>
            </a:r>
            <a:r>
              <a:rPr lang="en-US" sz="1400" dirty="0"/>
              <a:t>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THEN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ELSE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0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END</a:t>
            </a:r>
            <a:r>
              <a:rPr lang="en-US" sz="1400" dirty="0"/>
              <a:t>) * 100.0 /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(*)) </a:t>
            </a:r>
            <a:r>
              <a:rPr lang="en-US" sz="1400" dirty="0">
                <a:solidFill>
                  <a:srgbClr val="00B0F0"/>
                </a:solidFill>
              </a:rPr>
              <a:t>AS</a:t>
            </a:r>
            <a:r>
              <a:rPr lang="en-US" sz="1400" dirty="0"/>
              <a:t> </a:t>
            </a:r>
            <a:r>
              <a:rPr lang="en-US" sz="1400" dirty="0" err="1"/>
              <a:t>on_time_percent</a:t>
            </a:r>
            <a:r>
              <a:rPr lang="en-US" sz="1400" dirty="0"/>
              <a:t>,   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RANK</a:t>
            </a:r>
            <a:r>
              <a:rPr lang="en-US" sz="1400" dirty="0"/>
              <a:t>() </a:t>
            </a:r>
            <a:r>
              <a:rPr lang="en-US" sz="1400" dirty="0">
                <a:solidFill>
                  <a:srgbClr val="00B0F0"/>
                </a:solidFill>
              </a:rPr>
              <a:t>OVER</a:t>
            </a:r>
            <a:r>
              <a:rPr lang="en-US" sz="1400" dirty="0"/>
              <a:t> (</a:t>
            </a:r>
            <a:r>
              <a:rPr lang="en-US" sz="1400" dirty="0">
                <a:solidFill>
                  <a:srgbClr val="00B0F0"/>
                </a:solidFill>
              </a:rPr>
              <a:t>ORDER BY 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00B0F0"/>
                </a:solidFill>
              </a:rPr>
              <a:t>SUM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00B0F0"/>
                </a:solidFill>
              </a:rPr>
              <a:t>CASE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WHEN</a:t>
            </a:r>
            <a:r>
              <a:rPr lang="en-US" sz="1400" dirty="0"/>
              <a:t>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THEN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ELSE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0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END</a:t>
            </a:r>
            <a:r>
              <a:rPr lang="en-US" sz="1400" dirty="0"/>
              <a:t>) * 100.0 /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(*)) </a:t>
            </a:r>
            <a:r>
              <a:rPr lang="en-US" sz="1400" dirty="0">
                <a:solidFill>
                  <a:srgbClr val="00B0F0"/>
                </a:solidFill>
              </a:rPr>
              <a:t>DESC</a:t>
            </a:r>
            <a:r>
              <a:rPr lang="en-US" sz="1400" dirty="0"/>
              <a:t>)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AS</a:t>
            </a:r>
            <a:r>
              <a:rPr lang="en-US" sz="1400" dirty="0"/>
              <a:t> </a:t>
            </a:r>
            <a:r>
              <a:rPr lang="en-US" sz="1400" dirty="0" err="1"/>
              <a:t>warehouse_rank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FROM</a:t>
            </a:r>
            <a:r>
              <a:rPr lang="en-US" sz="1400" dirty="0"/>
              <a:t> orders </a:t>
            </a:r>
            <a:r>
              <a:rPr lang="en-US" sz="1400" dirty="0">
                <a:solidFill>
                  <a:srgbClr val="00B0F0"/>
                </a:solidFill>
              </a:rPr>
              <a:t>GROUP BY </a:t>
            </a:r>
            <a:r>
              <a:rPr lang="en-US" sz="1400" dirty="0" err="1"/>
              <a:t>warehouse_id</a:t>
            </a:r>
            <a:r>
              <a:rPr lang="en-US" sz="1400" dirty="0"/>
              <a:t>;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82B88-4F41-99C8-9980-A9CF7E7F7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461" y="3975038"/>
            <a:ext cx="2516932" cy="246017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D5F9D5-EEC6-D3BB-ABE7-47650EB57791}"/>
              </a:ext>
            </a:extLst>
          </p:cNvPr>
          <p:cNvSpPr/>
          <p:nvPr/>
        </p:nvSpPr>
        <p:spPr>
          <a:xfrm>
            <a:off x="273699" y="228607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Warehouse Performance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D96ADE9-88B8-AEAF-0D65-CD26D8330233}"/>
              </a:ext>
            </a:extLst>
          </p:cNvPr>
          <p:cNvCxnSpPr>
            <a:cxnSpLocks/>
          </p:cNvCxnSpPr>
          <p:nvPr/>
        </p:nvCxnSpPr>
        <p:spPr>
          <a:xfrm>
            <a:off x="6470617" y="2395858"/>
            <a:ext cx="14151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D4B0A7-A514-A515-2939-D114E2E6C80A}"/>
              </a:ext>
            </a:extLst>
          </p:cNvPr>
          <p:cNvCxnSpPr>
            <a:cxnSpLocks/>
          </p:cNvCxnSpPr>
          <p:nvPr/>
        </p:nvCxnSpPr>
        <p:spPr>
          <a:xfrm>
            <a:off x="5773931" y="5247915"/>
            <a:ext cx="14151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9AA115B-64F3-E5BF-2D90-341C110F18C9}"/>
              </a:ext>
            </a:extLst>
          </p:cNvPr>
          <p:cNvSpPr/>
          <p:nvPr/>
        </p:nvSpPr>
        <p:spPr>
          <a:xfrm>
            <a:off x="8926286" y="3975038"/>
            <a:ext cx="3145971" cy="2752333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662F6D"/>
                </a:solidFill>
              </a:rPr>
              <a:t>Analysis Approach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Used CTEs to compare warehouse processing time with the global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Identified bottleneck warehouses where processing time exceeded overall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Ranked warehouses based on on-time delivery percentage using window functions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C84C3DEE-5408-514A-B180-7D541CEC63F1}"/>
              </a:ext>
            </a:extLst>
          </p:cNvPr>
          <p:cNvSpPr/>
          <p:nvPr/>
        </p:nvSpPr>
        <p:spPr>
          <a:xfrm>
            <a:off x="9481457" y="228607"/>
            <a:ext cx="2590800" cy="3200388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Warehouses with processing times above the global average generally show lower on-time delivery performance, highlighting the need for process optimization and faster order handling.</a:t>
            </a:r>
            <a:endParaRPr lang="en-US" sz="14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75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D8E578-9E04-A0E1-13BC-52585CCC6D23}"/>
              </a:ext>
            </a:extLst>
          </p:cNvPr>
          <p:cNvSpPr/>
          <p:nvPr/>
        </p:nvSpPr>
        <p:spPr>
          <a:xfrm>
            <a:off x="273699" y="228607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Warehouse Performance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291A2-6E92-2AE9-1658-20840074B442}"/>
              </a:ext>
            </a:extLst>
          </p:cNvPr>
          <p:cNvSpPr/>
          <p:nvPr/>
        </p:nvSpPr>
        <p:spPr>
          <a:xfrm>
            <a:off x="870858" y="1883228"/>
            <a:ext cx="5105400" cy="41910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Insights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WH_02 recorded the highest average processing time among all warehouses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Bottleneck warehouses showed lower on-time delivery percentages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Delayed shipments are concentrated in a few underperforming warehouses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Warehouses with faster processing achieved better delivery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Operational inefficiencies directly impacted customer delivery timelines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0FF57-E3C2-3296-7DDD-75DE7177D738}"/>
              </a:ext>
            </a:extLst>
          </p:cNvPr>
          <p:cNvSpPr/>
          <p:nvPr/>
        </p:nvSpPr>
        <p:spPr>
          <a:xfrm>
            <a:off x="6340930" y="1883228"/>
            <a:ext cx="5105400" cy="41910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Recommendations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warehouse processing workflows to reduce handling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Allocate additional staff/resources to bottleneck warehouses during peak periods</a:t>
            </a:r>
          </a:p>
          <a:p>
            <a:pPr marL="285750" indent="-285750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 real-time monitoring for shipment processing and delays</a:t>
            </a:r>
          </a:p>
          <a:p>
            <a:pPr marL="285750" indent="-285750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Optimize inventory arrangement and dispatch operations for faster movement</a:t>
            </a:r>
          </a:p>
          <a:p>
            <a:pPr marL="285750" indent="-285750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Conduct periodic performance reviews for low-ranked warehouses to improve efficiency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570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E0749F-3AEC-B874-7D90-ABA4C591E024}"/>
              </a:ext>
            </a:extLst>
          </p:cNvPr>
          <p:cNvSpPr/>
          <p:nvPr/>
        </p:nvSpPr>
        <p:spPr>
          <a:xfrm>
            <a:off x="228600" y="1148438"/>
            <a:ext cx="5159829" cy="2656115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Delivery Agent On-Time Performance Ranking</a:t>
            </a:r>
          </a:p>
          <a:p>
            <a:endParaRPr lang="en-US" sz="2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sz="1400" dirty="0">
                <a:solidFill>
                  <a:srgbClr val="00B0F0"/>
                </a:solidFill>
              </a:rPr>
              <a:t>SELECT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 </a:t>
            </a:r>
            <a:r>
              <a:rPr lang="en-US" sz="1400" dirty="0">
                <a:solidFill>
                  <a:srgbClr val="00B0F0"/>
                </a:solidFill>
              </a:rPr>
              <a:t>AS</a:t>
            </a:r>
            <a:r>
              <a:rPr lang="en-US" sz="1400" dirty="0"/>
              <a:t> </a:t>
            </a:r>
            <a:r>
              <a:rPr lang="en-US" sz="1400" dirty="0" err="1"/>
              <a:t>total_orders</a:t>
            </a:r>
            <a:r>
              <a:rPr lang="en-US" sz="1400" dirty="0"/>
              <a:t>, (</a:t>
            </a:r>
            <a:r>
              <a:rPr lang="en-US" sz="1400" dirty="0">
                <a:solidFill>
                  <a:srgbClr val="996633"/>
                </a:solidFill>
              </a:rPr>
              <a:t>SUM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00B0F0"/>
                </a:solidFill>
              </a:rPr>
              <a:t>CASE</a:t>
            </a:r>
            <a:r>
              <a:rPr lang="en-US" sz="1400" dirty="0"/>
              <a:t>         	</a:t>
            </a:r>
            <a:r>
              <a:rPr lang="en-US" sz="1400" dirty="0">
                <a:solidFill>
                  <a:srgbClr val="00B0F0"/>
                </a:solidFill>
              </a:rPr>
              <a:t>WHEN</a:t>
            </a:r>
            <a:r>
              <a:rPr lang="en-US" sz="1400" dirty="0"/>
              <a:t>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THEN </a:t>
            </a:r>
            <a:r>
              <a:rPr lang="en-US" sz="1400" dirty="0">
                <a:solidFill>
                  <a:srgbClr val="996633"/>
                </a:solidFill>
              </a:rPr>
              <a:t>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ELSE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0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END</a:t>
            </a:r>
            <a:r>
              <a:rPr lang="en-US" sz="1400" dirty="0"/>
              <a:t>) * 100.0 /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(*)) </a:t>
            </a:r>
            <a:r>
              <a:rPr lang="en-US" sz="1400" dirty="0">
                <a:solidFill>
                  <a:srgbClr val="00B0F0"/>
                </a:solidFill>
              </a:rPr>
              <a:t>AS</a:t>
            </a:r>
            <a:r>
              <a:rPr lang="en-US" sz="1400" dirty="0"/>
              <a:t> </a:t>
            </a:r>
            <a:r>
              <a:rPr lang="en-US" sz="1400" dirty="0" err="1"/>
              <a:t>on_time_percent</a:t>
            </a:r>
            <a:r>
              <a:rPr lang="en-US" sz="1400" dirty="0"/>
              <a:t>,    	</a:t>
            </a:r>
            <a:r>
              <a:rPr lang="en-US" sz="1400" dirty="0">
                <a:solidFill>
                  <a:srgbClr val="00B0F0"/>
                </a:solidFill>
              </a:rPr>
              <a:t>RANK</a:t>
            </a:r>
            <a:r>
              <a:rPr lang="en-US" sz="1400" dirty="0"/>
              <a:t>() </a:t>
            </a:r>
            <a:r>
              <a:rPr lang="en-US" sz="1400" dirty="0">
                <a:solidFill>
                  <a:srgbClr val="00B0F0"/>
                </a:solidFill>
              </a:rPr>
              <a:t>OVER</a:t>
            </a:r>
            <a:r>
              <a:rPr lang="en-US" sz="1400" dirty="0"/>
              <a:t> (</a:t>
            </a:r>
            <a:r>
              <a:rPr lang="en-US" sz="1400" dirty="0">
                <a:solidFill>
                  <a:srgbClr val="00B0F0"/>
                </a:solidFill>
              </a:rPr>
              <a:t>PARTITION BY </a:t>
            </a:r>
            <a:r>
              <a:rPr lang="en-US" sz="1400" dirty="0" err="1"/>
              <a:t>route_id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ORDER BY 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996633"/>
                </a:solidFill>
              </a:rPr>
              <a:t>SUM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00B0F0"/>
                </a:solidFill>
              </a:rPr>
              <a:t>CASE</a:t>
            </a:r>
            <a:r>
              <a:rPr lang="en-US" sz="1400" dirty="0"/>
              <a:t>             	</a:t>
            </a:r>
            <a:r>
              <a:rPr lang="en-US" sz="1400" dirty="0">
                <a:solidFill>
                  <a:srgbClr val="00B0F0"/>
                </a:solidFill>
              </a:rPr>
              <a:t>WHEN</a:t>
            </a:r>
            <a:r>
              <a:rPr lang="en-US" sz="1400" dirty="0"/>
              <a:t>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THEN </a:t>
            </a:r>
            <a:r>
              <a:rPr lang="en-US" sz="1400" dirty="0">
                <a:solidFill>
                  <a:srgbClr val="996633"/>
                </a:solidFill>
              </a:rPr>
              <a:t>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ELSE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0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END</a:t>
            </a:r>
            <a:r>
              <a:rPr lang="en-US" sz="1400" dirty="0"/>
              <a:t>) * 100.0 / COUNT(*)) </a:t>
            </a:r>
            <a:r>
              <a:rPr lang="en-US" sz="1400" dirty="0">
                <a:solidFill>
                  <a:srgbClr val="00B0F0"/>
                </a:solidFill>
              </a:rPr>
              <a:t>DESC</a:t>
            </a:r>
            <a:r>
              <a:rPr lang="en-US" sz="1400" dirty="0"/>
              <a:t>)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AS</a:t>
            </a:r>
            <a:r>
              <a:rPr lang="en-US" sz="1400" dirty="0"/>
              <a:t> </a:t>
            </a:r>
            <a:r>
              <a:rPr lang="en-US" sz="1400" dirty="0" err="1"/>
              <a:t>agent_rank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FROM</a:t>
            </a:r>
            <a:r>
              <a:rPr lang="en-US" sz="1400" dirty="0"/>
              <a:t> orders </a:t>
            </a:r>
            <a:r>
              <a:rPr lang="en-US" sz="1400" dirty="0">
                <a:solidFill>
                  <a:srgbClr val="00B0F0"/>
                </a:solidFill>
              </a:rPr>
              <a:t>GROUP BY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 	</a:t>
            </a:r>
            <a:r>
              <a:rPr lang="en-US" sz="1400" dirty="0">
                <a:solidFill>
                  <a:srgbClr val="00B0F0"/>
                </a:solidFill>
              </a:rPr>
              <a:t>HAVING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 &gt;= </a:t>
            </a:r>
            <a:r>
              <a:rPr lang="en-US" sz="1400" dirty="0">
                <a:solidFill>
                  <a:srgbClr val="996633"/>
                </a:solidFill>
              </a:rPr>
              <a:t>2</a:t>
            </a:r>
            <a:r>
              <a:rPr lang="en-US" sz="1400" dirty="0"/>
              <a:t>;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945E1-62E0-D907-EC9D-F7B3F8685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890" y="1148438"/>
            <a:ext cx="3482367" cy="265611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9153F91-3BD9-4C2B-A9BA-CE290386BB09}"/>
              </a:ext>
            </a:extLst>
          </p:cNvPr>
          <p:cNvSpPr/>
          <p:nvPr/>
        </p:nvSpPr>
        <p:spPr>
          <a:xfrm>
            <a:off x="217713" y="4419600"/>
            <a:ext cx="5116287" cy="2046514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Low Performing Delivery Agents Identification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B0F0"/>
                </a:solidFill>
              </a:rPr>
              <a:t>SELECT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 AS </a:t>
            </a:r>
            <a:r>
              <a:rPr lang="en-US" sz="1400" dirty="0" err="1"/>
              <a:t>total_orders</a:t>
            </a:r>
            <a:r>
              <a:rPr lang="en-US" sz="1400" dirty="0"/>
              <a:t>,  (</a:t>
            </a:r>
            <a:r>
              <a:rPr lang="en-US" sz="1400" dirty="0">
                <a:solidFill>
                  <a:srgbClr val="996633"/>
                </a:solidFill>
              </a:rPr>
              <a:t>SUM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00B0F0"/>
                </a:solidFill>
              </a:rPr>
              <a:t>CASE</a:t>
            </a:r>
            <a:r>
              <a:rPr lang="en-US" sz="1400" dirty="0"/>
              <a:t> 	</a:t>
            </a:r>
            <a:r>
              <a:rPr lang="en-US" sz="1400" dirty="0">
                <a:solidFill>
                  <a:srgbClr val="00B0F0"/>
                </a:solidFill>
              </a:rPr>
              <a:t>WHEN</a:t>
            </a:r>
            <a:r>
              <a:rPr lang="en-US" sz="1400" dirty="0"/>
              <a:t>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THEN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ELSE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0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F0"/>
                </a:solidFill>
              </a:rPr>
              <a:t>END</a:t>
            </a:r>
            <a:r>
              <a:rPr lang="en-US" sz="1400" dirty="0"/>
              <a:t>) * 100.0 /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(*)) </a:t>
            </a:r>
            <a:r>
              <a:rPr lang="en-US" sz="1400" dirty="0">
                <a:solidFill>
                  <a:srgbClr val="00B0F0"/>
                </a:solidFill>
              </a:rPr>
              <a:t>AS</a:t>
            </a:r>
            <a:r>
              <a:rPr lang="en-US" sz="1400" dirty="0"/>
              <a:t> </a:t>
            </a:r>
            <a:r>
              <a:rPr lang="en-US" sz="1400" dirty="0" err="1"/>
              <a:t>on_time_percent</a:t>
            </a:r>
            <a:r>
              <a:rPr lang="en-US" sz="1400" dirty="0"/>
              <a:t> 	</a:t>
            </a:r>
            <a:r>
              <a:rPr lang="en-US" sz="1400" dirty="0">
                <a:solidFill>
                  <a:srgbClr val="00B0F0"/>
                </a:solidFill>
              </a:rPr>
              <a:t>FROM</a:t>
            </a:r>
            <a:r>
              <a:rPr lang="en-US" sz="1400" dirty="0"/>
              <a:t> orders </a:t>
            </a:r>
            <a:r>
              <a:rPr lang="en-US" sz="1400" dirty="0">
                <a:solidFill>
                  <a:srgbClr val="00B0F0"/>
                </a:solidFill>
              </a:rPr>
              <a:t>GROUP BY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00B0F0"/>
                </a:solidFill>
              </a:rPr>
              <a:t>HAVING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996633"/>
                </a:solidFill>
              </a:rPr>
              <a:t>COUNT</a:t>
            </a:r>
            <a:r>
              <a:rPr lang="en-US" sz="1400" dirty="0"/>
              <a:t>(*) &gt;= </a:t>
            </a:r>
            <a:r>
              <a:rPr lang="en-US" sz="1400" dirty="0">
                <a:solidFill>
                  <a:srgbClr val="996633"/>
                </a:solidFill>
              </a:rPr>
              <a:t>2</a:t>
            </a:r>
            <a:r>
              <a:rPr lang="en-US" sz="1400" dirty="0"/>
              <a:t>   </a:t>
            </a:r>
            <a:r>
              <a:rPr lang="en-US" sz="1400" dirty="0">
                <a:solidFill>
                  <a:srgbClr val="00B0F0"/>
                </a:solidFill>
              </a:rPr>
              <a:t>AND</a:t>
            </a:r>
            <a:r>
              <a:rPr lang="en-US" sz="1400" dirty="0"/>
              <a:t> </a:t>
            </a:r>
            <a:r>
              <a:rPr lang="en-US" sz="1400" dirty="0" err="1"/>
              <a:t>on_time_percent</a:t>
            </a:r>
            <a:r>
              <a:rPr lang="en-US" sz="1400" dirty="0"/>
              <a:t> &lt; </a:t>
            </a:r>
            <a:r>
              <a:rPr lang="en-US" sz="1400" dirty="0">
                <a:solidFill>
                  <a:srgbClr val="996633"/>
                </a:solidFill>
              </a:rPr>
              <a:t>80</a:t>
            </a:r>
            <a:r>
              <a:rPr lang="en-US" sz="1400" dirty="0"/>
              <a:t>;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1A2718-792D-E217-B63C-77F134346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890" y="4419600"/>
            <a:ext cx="3482367" cy="207372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31AE8D-F435-CFEA-D4C1-4CAC6FA516EE}"/>
              </a:ext>
            </a:extLst>
          </p:cNvPr>
          <p:cNvSpPr/>
          <p:nvPr/>
        </p:nvSpPr>
        <p:spPr>
          <a:xfrm>
            <a:off x="228600" y="130629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Delivery Agent Performance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1F36F2-3481-466B-CD41-0B807C8D09C3}"/>
              </a:ext>
            </a:extLst>
          </p:cNvPr>
          <p:cNvCxnSpPr>
            <a:cxnSpLocks/>
          </p:cNvCxnSpPr>
          <p:nvPr/>
        </p:nvCxnSpPr>
        <p:spPr>
          <a:xfrm>
            <a:off x="5490903" y="2476495"/>
            <a:ext cx="14151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9718D3-BCA9-FDA3-6FA6-A17A9C85190B}"/>
              </a:ext>
            </a:extLst>
          </p:cNvPr>
          <p:cNvCxnSpPr>
            <a:cxnSpLocks/>
          </p:cNvCxnSpPr>
          <p:nvPr/>
        </p:nvCxnSpPr>
        <p:spPr>
          <a:xfrm>
            <a:off x="5490903" y="5456462"/>
            <a:ext cx="14151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E7E938C-55DE-F6EE-4433-8E51C07E2AE2}"/>
              </a:ext>
            </a:extLst>
          </p:cNvPr>
          <p:cNvSpPr/>
          <p:nvPr/>
        </p:nvSpPr>
        <p:spPr>
          <a:xfrm>
            <a:off x="9448800" y="3428999"/>
            <a:ext cx="2634343" cy="321128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662F6D"/>
                </a:solidFill>
              </a:rPr>
              <a:t>Analysis Approach</a:t>
            </a:r>
            <a:endParaRPr lang="en-US" sz="2000" b="1" u="sng" dirty="0">
              <a:solidFill>
                <a:srgbClr val="662F6D"/>
              </a:solidFill>
            </a:endParaRP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Calculated on-time delivery percentage for each delivery agent by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Ranked agents within each route using SQL window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Identified low-performing agents with on-time delivery below 80%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BEC04C16-9369-F240-C460-959D3F084091}"/>
              </a:ext>
            </a:extLst>
          </p:cNvPr>
          <p:cNvSpPr/>
          <p:nvPr/>
        </p:nvSpPr>
        <p:spPr>
          <a:xfrm>
            <a:off x="9319731" y="130629"/>
            <a:ext cx="2763412" cy="2917371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Agent performance varies significantly across routes, and a few low-performing agents are contributing disproportionately to delivery delays.</a:t>
            </a:r>
            <a:endParaRPr lang="en-US" sz="1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99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48144-D36E-4DF4-FD25-9C6C5ACB0B49}"/>
              </a:ext>
            </a:extLst>
          </p:cNvPr>
          <p:cNvSpPr/>
          <p:nvPr/>
        </p:nvSpPr>
        <p:spPr>
          <a:xfrm>
            <a:off x="274762" y="1132114"/>
            <a:ext cx="5867400" cy="2857899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Top vs Bottom Agent Speed Performance Comparison</a:t>
            </a:r>
          </a:p>
          <a:p>
            <a:endParaRPr lang="en-US" dirty="0"/>
          </a:p>
          <a:p>
            <a:r>
              <a:rPr lang="en-US" sz="1400" dirty="0"/>
              <a:t>SELECT *FROM (SELECT</a:t>
            </a:r>
          </a:p>
          <a:p>
            <a:r>
              <a:rPr lang="en-US" sz="1400" dirty="0"/>
              <a:t>	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 err="1"/>
              <a:t>avg_speed_kmph</a:t>
            </a:r>
            <a:r>
              <a:rPr lang="en-US" sz="1400" dirty="0"/>
              <a:t>, </a:t>
            </a:r>
            <a:r>
              <a:rPr lang="en-US" sz="1400" dirty="0" err="1"/>
              <a:t>On_Time_Delivery_Percentage</a:t>
            </a:r>
            <a:r>
              <a:rPr lang="en-US" sz="1400" dirty="0"/>
              <a:t>,        	'Top 5' AS category FROM </a:t>
            </a:r>
            <a:r>
              <a:rPr lang="en-US" sz="1400" dirty="0" err="1"/>
              <a:t>delivery_agents</a:t>
            </a:r>
            <a:r>
              <a:rPr lang="en-US" sz="1400" dirty="0"/>
              <a:t> ORDER BY 	</a:t>
            </a:r>
            <a:r>
              <a:rPr lang="en-US" sz="1400" dirty="0" err="1"/>
              <a:t>On_Time_Delivery_Percentage</a:t>
            </a:r>
            <a:r>
              <a:rPr lang="en-US" sz="1400" dirty="0"/>
              <a:t> DESC LIMIT 5) AS </a:t>
            </a:r>
            <a:r>
              <a:rPr lang="en-US" sz="1400" dirty="0" err="1"/>
              <a:t>top_agents</a:t>
            </a:r>
            <a:r>
              <a:rPr lang="en-US" sz="1400" dirty="0"/>
              <a:t> UNION ALL SELECT *FROM (SELECT  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 err="1"/>
              <a:t>avg_speed_kmph</a:t>
            </a:r>
            <a:r>
              <a:rPr lang="en-US" sz="1400" dirty="0"/>
              <a:t>, </a:t>
            </a:r>
            <a:r>
              <a:rPr lang="en-US" sz="1400" dirty="0" err="1"/>
              <a:t>On_Time_Delivery_Percentage</a:t>
            </a:r>
            <a:r>
              <a:rPr lang="en-US" sz="1400" dirty="0"/>
              <a:t>,        	'Bottom 5' AS category FROM </a:t>
            </a:r>
            <a:r>
              <a:rPr lang="en-US" sz="1400" dirty="0" err="1"/>
              <a:t>delivery_agents</a:t>
            </a:r>
            <a:r>
              <a:rPr lang="en-US" sz="1400" dirty="0"/>
              <a:t> ORDER BY 	</a:t>
            </a:r>
            <a:r>
              <a:rPr lang="en-US" sz="1400" dirty="0" err="1"/>
              <a:t>On_Time_Delivery_Percentage</a:t>
            </a:r>
            <a:r>
              <a:rPr lang="en-US" sz="1400" dirty="0"/>
              <a:t> ASC LIMIT 5) AS </a:t>
            </a:r>
            <a:r>
              <a:rPr lang="en-US" sz="1400" dirty="0" err="1"/>
              <a:t>bottom_agents</a:t>
            </a:r>
            <a:r>
              <a:rPr lang="en-US" sz="1400" dirty="0"/>
              <a:t>;</a:t>
            </a: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80FA4-55D0-4130-7A13-074C09030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943" y="1132114"/>
            <a:ext cx="4430486" cy="285789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14A470-E2C4-F78E-DD0F-825AF5041FF4}"/>
              </a:ext>
            </a:extLst>
          </p:cNvPr>
          <p:cNvSpPr/>
          <p:nvPr/>
        </p:nvSpPr>
        <p:spPr>
          <a:xfrm>
            <a:off x="228600" y="130629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Delivery Agent Performance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2D02CF-32FB-363B-CE6C-858DD9B21888}"/>
              </a:ext>
            </a:extLst>
          </p:cNvPr>
          <p:cNvCxnSpPr>
            <a:cxnSpLocks/>
          </p:cNvCxnSpPr>
          <p:nvPr/>
        </p:nvCxnSpPr>
        <p:spPr>
          <a:xfrm>
            <a:off x="6307331" y="2561063"/>
            <a:ext cx="23498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CE70853-9CA5-DB34-461D-DCE2DB0355DC}"/>
              </a:ext>
            </a:extLst>
          </p:cNvPr>
          <p:cNvSpPr/>
          <p:nvPr/>
        </p:nvSpPr>
        <p:spPr>
          <a:xfrm>
            <a:off x="6672943" y="4136573"/>
            <a:ext cx="4430486" cy="25146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Analysis Approach</a:t>
            </a:r>
            <a:endParaRPr lang="en-US" sz="2000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Compared top 5 and bottom 5 delivery agents based on on-time delivery percentage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Used subqueries to separate high-performing and low-performing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Analyzed average speed alongside delivery performance metrics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82AD05-E92D-B50F-7998-0EE090F932D6}"/>
              </a:ext>
            </a:extLst>
          </p:cNvPr>
          <p:cNvSpPr/>
          <p:nvPr/>
        </p:nvSpPr>
        <p:spPr>
          <a:xfrm>
            <a:off x="274762" y="4136574"/>
            <a:ext cx="5867400" cy="2514599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Delivery Agent Performance Improvement Recommendations</a:t>
            </a:r>
            <a:endParaRPr lang="en-US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Provide targeted training for agents with on-time delivery below 80%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Assign experienced high-performing agents as mentors for low performers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Reduce workload on consistently low-performing agents during peak hours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Reassign difficult or high-traffic routes more evenly among agents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Monitor agent performance regularly using on-time delivery KPIs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Optimize route allocation based on agent efficiency and route familiarity</a:t>
            </a:r>
          </a:p>
        </p:txBody>
      </p:sp>
    </p:spTree>
    <p:extLst>
      <p:ext uri="{BB962C8B-B14F-4D97-AF65-F5344CB8AC3E}">
        <p14:creationId xmlns:p14="http://schemas.microsoft.com/office/powerpoint/2010/main" val="2777489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D2503D-ECAB-7D54-CC87-56100E3A9AA3}"/>
              </a:ext>
            </a:extLst>
          </p:cNvPr>
          <p:cNvSpPr/>
          <p:nvPr/>
        </p:nvSpPr>
        <p:spPr>
          <a:xfrm>
            <a:off x="228600" y="130629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Delivery Agent Performance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EC954-0E7B-12AB-EB46-2786CC3E9E97}"/>
              </a:ext>
            </a:extLst>
          </p:cNvPr>
          <p:cNvSpPr/>
          <p:nvPr/>
        </p:nvSpPr>
        <p:spPr>
          <a:xfrm>
            <a:off x="304801" y="1240972"/>
            <a:ext cx="5431971" cy="4963886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On-time delivery performance varies significantly among delivery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Top-performing agents consistently maintain high delivery percentages across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Some low-performing agents show lower delivery percentages despite similar average speeds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Delivery delays are influenced by both agent efficiency and route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A small group of low-performing agents contributes disproportionately to delayed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Higher delivery speed alone does not always guarantee better on-time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7C446-6B0D-EE90-9543-5F9A8CDE1B6E}"/>
              </a:ext>
            </a:extLst>
          </p:cNvPr>
          <p:cNvSpPr/>
          <p:nvPr/>
        </p:nvSpPr>
        <p:spPr>
          <a:xfrm>
            <a:off x="6455228" y="1240971"/>
            <a:ext cx="5431971" cy="4963886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Provide targeted training for agents with on-time delivery below 80%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Assign experienced top-performing agents as mentors for low performers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Balance route allocation to avoid overloading specific delivery agents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Reassign high-traffic or difficult routes based on agent experience and performance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Monitor agent KPIs regularly to track improvement in delivery performance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Conduct time-management and route-handling workshops for low-performing agents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Introduce incentive programs for agents achieving high on-time delivery rates</a:t>
            </a:r>
          </a:p>
        </p:txBody>
      </p:sp>
    </p:spTree>
    <p:extLst>
      <p:ext uri="{BB962C8B-B14F-4D97-AF65-F5344CB8AC3E}">
        <p14:creationId xmlns:p14="http://schemas.microsoft.com/office/powerpoint/2010/main" val="1893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BE1E94-2A13-DBC6-AE4B-991DA7AECC29}"/>
              </a:ext>
            </a:extLst>
          </p:cNvPr>
          <p:cNvSpPr/>
          <p:nvPr/>
        </p:nvSpPr>
        <p:spPr>
          <a:xfrm>
            <a:off x="391886" y="1382486"/>
            <a:ext cx="3918860" cy="2677886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Most Common Delivery Delay Reasons Analysis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B0F0"/>
                </a:solidFill>
              </a:rPr>
              <a:t>SELECT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delay_reason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996633"/>
                </a:solidFill>
              </a:rPr>
              <a:t>COUNT</a:t>
            </a:r>
            <a:r>
              <a:rPr lang="en-US" sz="1600" dirty="0"/>
              <a:t>(*) 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frequency 	</a:t>
            </a:r>
            <a:r>
              <a:rPr lang="en-US" sz="1600" dirty="0">
                <a:solidFill>
                  <a:srgbClr val="00B0F0"/>
                </a:solidFill>
              </a:rPr>
              <a:t>FROM</a:t>
            </a:r>
            <a:r>
              <a:rPr lang="en-US" sz="1600" dirty="0"/>
              <a:t> </a:t>
            </a:r>
            <a:r>
              <a:rPr lang="en-US" sz="1600" dirty="0" err="1"/>
              <a:t>shipment_tracking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WHERE</a:t>
            </a:r>
            <a:r>
              <a:rPr lang="en-US" sz="1600" dirty="0"/>
              <a:t> </a:t>
            </a:r>
            <a:r>
              <a:rPr lang="en-US" sz="1600" dirty="0" err="1"/>
              <a:t>delay_reason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IS NOT NULL  </a:t>
            </a:r>
            <a:r>
              <a:rPr lang="en-US" sz="1600" dirty="0"/>
              <a:t>	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AND</a:t>
            </a:r>
            <a:r>
              <a:rPr lang="en-US" sz="1600" dirty="0"/>
              <a:t> </a:t>
            </a:r>
            <a:r>
              <a:rPr lang="en-US" sz="1600" dirty="0" err="1"/>
              <a:t>delay_reason</a:t>
            </a:r>
            <a:r>
              <a:rPr lang="en-US" sz="1600" dirty="0"/>
              <a:t> != </a:t>
            </a:r>
            <a:r>
              <a:rPr lang="en-US" sz="1600" dirty="0">
                <a:solidFill>
                  <a:srgbClr val="996633"/>
                </a:solidFill>
              </a:rPr>
              <a:t>'None’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GROUP BY </a:t>
            </a:r>
            <a:r>
              <a:rPr lang="en-US" sz="1600" dirty="0" err="1"/>
              <a:t>delay_reason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ORDER BY </a:t>
            </a:r>
            <a:r>
              <a:rPr lang="en-US" sz="1600" dirty="0"/>
              <a:t>frequency </a:t>
            </a:r>
            <a:r>
              <a:rPr lang="en-US" sz="1600" dirty="0">
                <a:solidFill>
                  <a:srgbClr val="00B0F0"/>
                </a:solidFill>
              </a:rPr>
              <a:t>DESC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2AB893-4750-DF3A-5FF1-E3CB18272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43" y="1958420"/>
            <a:ext cx="2314898" cy="120031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F43BAB-66D6-7D2E-0188-256E95205B49}"/>
              </a:ext>
            </a:extLst>
          </p:cNvPr>
          <p:cNvSpPr/>
          <p:nvPr/>
        </p:nvSpPr>
        <p:spPr>
          <a:xfrm>
            <a:off x="391886" y="323153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Shipment Tracking Analytics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C442E-2724-5B39-11C7-EAAA340AC609}"/>
              </a:ext>
            </a:extLst>
          </p:cNvPr>
          <p:cNvSpPr/>
          <p:nvPr/>
        </p:nvSpPr>
        <p:spPr>
          <a:xfrm>
            <a:off x="391884" y="4223657"/>
            <a:ext cx="4746173" cy="243840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Orders with Multiple Delayed Checkpoints Identification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B0F0"/>
                </a:solidFill>
              </a:rPr>
              <a:t>SELECT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order_id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996633"/>
                </a:solidFill>
              </a:rPr>
              <a:t>COUNT</a:t>
            </a:r>
            <a:r>
              <a:rPr lang="en-US" sz="1600" dirty="0"/>
              <a:t>(*) 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delayed_checkpoints</a:t>
            </a:r>
            <a:r>
              <a:rPr lang="en-US" sz="1600" dirty="0"/>
              <a:t>  	</a:t>
            </a:r>
            <a:r>
              <a:rPr lang="en-US" sz="1600" dirty="0">
                <a:solidFill>
                  <a:srgbClr val="00B0F0"/>
                </a:solidFill>
              </a:rPr>
              <a:t>FROM</a:t>
            </a:r>
            <a:r>
              <a:rPr lang="en-US" sz="1600" dirty="0"/>
              <a:t> </a:t>
            </a:r>
            <a:r>
              <a:rPr lang="en-US" sz="1600" dirty="0" err="1"/>
              <a:t>shipment_tracking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WHERE</a:t>
            </a:r>
            <a:r>
              <a:rPr lang="en-US" sz="1600" dirty="0"/>
              <a:t> </a:t>
            </a:r>
            <a:r>
              <a:rPr lang="en-US" sz="1600" dirty="0" err="1"/>
              <a:t>delay_reason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IS NOT NULL 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AND</a:t>
            </a:r>
            <a:r>
              <a:rPr lang="en-US" sz="1600" dirty="0"/>
              <a:t> </a:t>
            </a:r>
            <a:r>
              <a:rPr lang="en-US" sz="1600" dirty="0" err="1"/>
              <a:t>delay_reason</a:t>
            </a:r>
            <a:r>
              <a:rPr lang="en-US" sz="1600" dirty="0"/>
              <a:t> != </a:t>
            </a:r>
            <a:r>
              <a:rPr lang="en-US" sz="1600" dirty="0">
                <a:solidFill>
                  <a:srgbClr val="996633"/>
                </a:solidFill>
              </a:rPr>
              <a:t>'None’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GROUP BY </a:t>
            </a:r>
            <a:r>
              <a:rPr lang="en-US" sz="1600" dirty="0" err="1"/>
              <a:t>order_id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HAVING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996633"/>
                </a:solidFill>
              </a:rPr>
              <a:t>COUNT</a:t>
            </a:r>
            <a:r>
              <a:rPr lang="en-US" sz="1600" dirty="0"/>
              <a:t>(*) &gt; </a:t>
            </a:r>
            <a:r>
              <a:rPr lang="en-US" sz="1600" dirty="0">
                <a:solidFill>
                  <a:srgbClr val="996633"/>
                </a:solidFill>
              </a:rPr>
              <a:t>2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F5EDF5-4C66-E25C-7404-EF6C37C4C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43" y="3966919"/>
            <a:ext cx="3077004" cy="269513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01AB25-A853-F1D7-F65C-CBB199578045}"/>
              </a:ext>
            </a:extLst>
          </p:cNvPr>
          <p:cNvCxnSpPr>
            <a:cxnSpLocks/>
          </p:cNvCxnSpPr>
          <p:nvPr/>
        </p:nvCxnSpPr>
        <p:spPr>
          <a:xfrm>
            <a:off x="4576503" y="2721429"/>
            <a:ext cx="75524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9784D0-DE19-3384-8A3E-163BC85A2463}"/>
              </a:ext>
            </a:extLst>
          </p:cNvPr>
          <p:cNvCxnSpPr>
            <a:cxnSpLocks/>
          </p:cNvCxnSpPr>
          <p:nvPr/>
        </p:nvCxnSpPr>
        <p:spPr>
          <a:xfrm>
            <a:off x="5214259" y="5543749"/>
            <a:ext cx="23498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49329-4781-83E1-66BF-A77F3A39FBDF}"/>
              </a:ext>
            </a:extLst>
          </p:cNvPr>
          <p:cNvSpPr/>
          <p:nvPr/>
        </p:nvSpPr>
        <p:spPr>
          <a:xfrm>
            <a:off x="8926286" y="3581399"/>
            <a:ext cx="3077004" cy="3080657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662F6D"/>
                </a:solidFill>
              </a:rPr>
              <a:t>Analysis Approach</a:t>
            </a:r>
            <a:endParaRPr lang="en-US" sz="2000" b="1" u="sng" dirty="0">
              <a:solidFill>
                <a:srgbClr val="662F6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Analyzed shipment tracking data to identify the most common delivery delay reasons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Excluded NULL and “None” values to focus only on actual delay causes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Counted delayed checkpoints for each order to identify shipments with repeated delays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7ED4E0C2-16CF-B15D-F168-2BDDCEF5BB72}"/>
              </a:ext>
            </a:extLst>
          </p:cNvPr>
          <p:cNvSpPr/>
          <p:nvPr/>
        </p:nvSpPr>
        <p:spPr>
          <a:xfrm>
            <a:off x="8014034" y="195944"/>
            <a:ext cx="3784416" cy="2917371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600" dirty="0">
                <a:solidFill>
                  <a:schemeClr val="bg1"/>
                </a:solidFill>
              </a:rPr>
              <a:t>Traffic and weather are the major causes of shipment delays, while orders with multiple delayed checkpoints indicate recurring operational inefficiencies in the delivery process.</a:t>
            </a:r>
            <a:endParaRPr lang="en-US" sz="1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42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E1C5B1-8FBC-07A2-BF38-59FCD16C28BC}"/>
              </a:ext>
            </a:extLst>
          </p:cNvPr>
          <p:cNvSpPr/>
          <p:nvPr/>
        </p:nvSpPr>
        <p:spPr>
          <a:xfrm>
            <a:off x="435428" y="1349829"/>
            <a:ext cx="5018317" cy="2634342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Orders with Multiple Delayed Checkpoints Identification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SELECT</a:t>
            </a:r>
            <a:r>
              <a:rPr lang="en-US" dirty="0"/>
              <a:t> </a:t>
            </a:r>
          </a:p>
          <a:p>
            <a:r>
              <a:rPr lang="en-US" dirty="0"/>
              <a:t>	</a:t>
            </a:r>
            <a:r>
              <a:rPr lang="en-US" dirty="0" err="1"/>
              <a:t>order_id</a:t>
            </a:r>
            <a:r>
              <a:rPr lang="en-US" dirty="0"/>
              <a:t>,  checkpoint, </a:t>
            </a:r>
            <a:r>
              <a:rPr lang="en-US" dirty="0" err="1"/>
              <a:t>checkpoint_time</a:t>
            </a:r>
            <a:r>
              <a:rPr lang="en-US" dirty="0"/>
              <a:t> 	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shipment_tracking</a:t>
            </a:r>
            <a:r>
              <a:rPr lang="en-US" dirty="0"/>
              <a:t>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WHERE</a:t>
            </a:r>
            <a:r>
              <a:rPr lang="en-US" dirty="0"/>
              <a:t> 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checkpoint_time</a:t>
            </a:r>
            <a:r>
              <a:rPr lang="en-US" dirty="0"/>
              <a:t>)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IN</a:t>
            </a:r>
            <a:r>
              <a:rPr lang="en-US" dirty="0"/>
              <a:t> (SELECT 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MAX</a:t>
            </a:r>
            <a:r>
              <a:rPr lang="en-US" dirty="0"/>
              <a:t>(</a:t>
            </a:r>
            <a:r>
              <a:rPr lang="en-US" dirty="0" err="1"/>
              <a:t>checkpoint_time</a:t>
            </a:r>
            <a:r>
              <a:rPr lang="en-US" dirty="0"/>
              <a:t>)    	</a:t>
            </a:r>
            <a:r>
              <a:rPr lang="en-US" dirty="0">
                <a:solidFill>
                  <a:srgbClr val="00B0F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shipment_tracking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GROUP BY </a:t>
            </a:r>
            <a:r>
              <a:rPr lang="en-US" dirty="0" err="1"/>
              <a:t>order_id</a:t>
            </a:r>
            <a:r>
              <a:rPr lang="en-US" dirty="0"/>
              <a:t>);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1B31C-FAAA-1B82-FE6E-DD8065217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257" y="538306"/>
            <a:ext cx="4210638" cy="344586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B4A93C-FA08-48EE-276B-0E1F0E728500}"/>
              </a:ext>
            </a:extLst>
          </p:cNvPr>
          <p:cNvSpPr/>
          <p:nvPr/>
        </p:nvSpPr>
        <p:spPr>
          <a:xfrm>
            <a:off x="391886" y="323153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Shipment Tracking Analytics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1D872-31FE-B040-EEA8-44435A85E05D}"/>
              </a:ext>
            </a:extLst>
          </p:cNvPr>
          <p:cNvSpPr/>
          <p:nvPr/>
        </p:nvSpPr>
        <p:spPr>
          <a:xfrm>
            <a:off x="511629" y="4278085"/>
            <a:ext cx="4942116" cy="225676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662F6D"/>
                </a:solidFill>
              </a:rPr>
              <a:t>Analysis Approach</a:t>
            </a:r>
            <a:endParaRPr lang="en-US" sz="2000" b="1" u="sng" dirty="0">
              <a:solidFill>
                <a:srgbClr val="662F6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Analyzed shipment tracking data to identify the most common delivery delay reasons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Excluded NULL and “None” values to focus only on actual delay causes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-apple-system-body"/>
              </a:rPr>
              <a:t>Counted delayed checkpoints for each order to identify shipments with repeated delays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34292AC-5005-27C6-6C8F-0E7A124B04A6}"/>
              </a:ext>
            </a:extLst>
          </p:cNvPr>
          <p:cNvSpPr/>
          <p:nvPr/>
        </p:nvSpPr>
        <p:spPr>
          <a:xfrm>
            <a:off x="6286507" y="4386942"/>
            <a:ext cx="5114137" cy="2039046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600" dirty="0">
                <a:solidFill>
                  <a:schemeClr val="bg1"/>
                </a:solidFill>
              </a:rPr>
              <a:t>Traffic and weather are the major causes of shipment delays, while orders with multiple delayed checkpoints indicate recurring operational inefficiencies in the delivery process.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36C7E6-8D95-1364-F58D-04403B8A0AA3}"/>
              </a:ext>
            </a:extLst>
          </p:cNvPr>
          <p:cNvCxnSpPr>
            <a:cxnSpLocks/>
          </p:cNvCxnSpPr>
          <p:nvPr/>
        </p:nvCxnSpPr>
        <p:spPr>
          <a:xfrm>
            <a:off x="5718376" y="2677886"/>
            <a:ext cx="75524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255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D690FA-0757-D960-4D7A-22555BAF7C40}"/>
              </a:ext>
            </a:extLst>
          </p:cNvPr>
          <p:cNvSpPr/>
          <p:nvPr/>
        </p:nvSpPr>
        <p:spPr>
          <a:xfrm>
            <a:off x="391886" y="323153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Shipment Tracking Analytics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AA599-BD90-F80B-3E4F-B19C2C84A5C2}"/>
              </a:ext>
            </a:extLst>
          </p:cNvPr>
          <p:cNvSpPr/>
          <p:nvPr/>
        </p:nvSpPr>
        <p:spPr>
          <a:xfrm>
            <a:off x="261258" y="1556657"/>
            <a:ext cx="5529943" cy="497819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Traffic is the most common cause of shipment delays across checkpoints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Weather-related disruptions significantly impact delivery timelines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Technical issues also contribute to repeated shipment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Several orders experience multiple delayed checkpoints, indicating recurring delivery bottlenecks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Repeated checkpoint delays reduce shipment visibility and overall customer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Certain hubs/routes appear more delay-prone and require operational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-apple-system-bod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-apple-system-body"/>
            </a:endParaRPr>
          </a:p>
          <a:p>
            <a:endParaRPr lang="en-US" dirty="0">
              <a:solidFill>
                <a:schemeClr val="bg1"/>
              </a:solidFill>
              <a:latin typeface="-apple-system-bod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A19AD-125B-6DA4-22FB-96B7D189F601}"/>
              </a:ext>
            </a:extLst>
          </p:cNvPr>
          <p:cNvSpPr/>
          <p:nvPr/>
        </p:nvSpPr>
        <p:spPr>
          <a:xfrm>
            <a:off x="6400800" y="1556657"/>
            <a:ext cx="5529943" cy="497819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route planning to reduce traffic-related delays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Introduce real-time traffic and weather monitoring for better shipment scheduling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Strengthen technical infrastructure to minimize system-related disruptions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Monitor orders with repeated delayed checkpoints more closely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Optimize checkpoint operations at high-delay hubs for faster shipment movement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Implement automated alerts for shipments facing multiple delays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Use predictive analytics to identify potential delays before escalation</a:t>
            </a:r>
          </a:p>
        </p:txBody>
      </p:sp>
    </p:spTree>
    <p:extLst>
      <p:ext uri="{BB962C8B-B14F-4D97-AF65-F5344CB8AC3E}">
        <p14:creationId xmlns:p14="http://schemas.microsoft.com/office/powerpoint/2010/main" val="2051104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17F7E2-A3D4-9853-31D3-748D4D33FA2F}"/>
              </a:ext>
            </a:extLst>
          </p:cNvPr>
          <p:cNvSpPr/>
          <p:nvPr/>
        </p:nvSpPr>
        <p:spPr>
          <a:xfrm>
            <a:off x="239485" y="1240973"/>
            <a:ext cx="4920343" cy="2743198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Average Delivery Delay by Start Location Analysis</a:t>
            </a:r>
            <a:endParaRPr lang="en-IN" sz="2000" b="1"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IN" sz="1600" dirty="0"/>
          </a:p>
          <a:p>
            <a:r>
              <a:rPr lang="en-IN" sz="1600" dirty="0">
                <a:solidFill>
                  <a:srgbClr val="00B0F0"/>
                </a:solidFill>
              </a:rPr>
              <a:t>SELECT</a:t>
            </a:r>
            <a:r>
              <a:rPr lang="en-IN" sz="1600" dirty="0"/>
              <a:t>     </a:t>
            </a:r>
          </a:p>
          <a:p>
            <a:r>
              <a:rPr lang="en-IN" sz="1600" dirty="0"/>
              <a:t>	</a:t>
            </a:r>
            <a:r>
              <a:rPr lang="en-IN" sz="1600" dirty="0" err="1"/>
              <a:t>r.start_location</a:t>
            </a:r>
            <a:r>
              <a:rPr lang="en-IN" sz="1600" dirty="0"/>
              <a:t>, </a:t>
            </a:r>
            <a:r>
              <a:rPr lang="en-IN" sz="1600" dirty="0">
                <a:solidFill>
                  <a:srgbClr val="00B0F0"/>
                </a:solidFill>
              </a:rPr>
              <a:t>AVG</a:t>
            </a:r>
            <a:r>
              <a:rPr lang="en-IN" sz="1600" dirty="0"/>
              <a:t>(</a:t>
            </a:r>
            <a:r>
              <a:rPr lang="en-IN" sz="1600" dirty="0">
                <a:solidFill>
                  <a:srgbClr val="996633"/>
                </a:solidFill>
              </a:rPr>
              <a:t>DATEDIFF</a:t>
            </a:r>
          </a:p>
          <a:p>
            <a:r>
              <a:rPr lang="en-IN" sz="1600" dirty="0"/>
              <a:t>	(</a:t>
            </a:r>
            <a:r>
              <a:rPr lang="en-IN" sz="1600" dirty="0" err="1"/>
              <a:t>o.actual_delivery_date,o.expected_delivery_date</a:t>
            </a:r>
            <a:r>
              <a:rPr lang="en-IN" sz="1600" dirty="0"/>
              <a:t>))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AS</a:t>
            </a:r>
            <a:r>
              <a:rPr lang="en-IN" sz="1600" dirty="0"/>
              <a:t> </a:t>
            </a:r>
            <a:r>
              <a:rPr lang="en-IN" sz="1600" dirty="0" err="1"/>
              <a:t>avg_delay_days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FROM</a:t>
            </a:r>
            <a:r>
              <a:rPr lang="en-IN" sz="1600" dirty="0"/>
              <a:t> orders o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JOIN</a:t>
            </a:r>
            <a:r>
              <a:rPr lang="en-IN" sz="1600" dirty="0"/>
              <a:t> routes r </a:t>
            </a:r>
            <a:r>
              <a:rPr lang="en-IN" sz="1600" dirty="0">
                <a:solidFill>
                  <a:srgbClr val="00B0F0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o.route_id</a:t>
            </a:r>
            <a:r>
              <a:rPr lang="en-IN" sz="1600" dirty="0"/>
              <a:t> = </a:t>
            </a:r>
            <a:r>
              <a:rPr lang="en-IN" sz="1600" dirty="0" err="1"/>
              <a:t>r.route_id</a:t>
            </a:r>
            <a:endParaRPr lang="en-IN" sz="1600" dirty="0"/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GROUP BY </a:t>
            </a:r>
            <a:r>
              <a:rPr lang="en-IN" sz="1600" dirty="0" err="1"/>
              <a:t>r.start_location</a:t>
            </a:r>
            <a:r>
              <a:rPr lang="en-IN" sz="1600" dirty="0"/>
              <a:t>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ORDER BY </a:t>
            </a:r>
            <a:r>
              <a:rPr lang="en-IN" sz="1600" dirty="0" err="1"/>
              <a:t>avg_delay_days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DESC</a:t>
            </a:r>
            <a:r>
              <a:rPr lang="en-IN" sz="1600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94175-65E9-3F5B-BDDD-1FFC2FABE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131" y="1780367"/>
            <a:ext cx="3029362" cy="183858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0B6BC0-53E0-7DFC-1F35-61A1634AA506}"/>
              </a:ext>
            </a:extLst>
          </p:cNvPr>
          <p:cNvSpPr/>
          <p:nvPr/>
        </p:nvSpPr>
        <p:spPr>
          <a:xfrm>
            <a:off x="239484" y="4161769"/>
            <a:ext cx="4920343" cy="2576485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Warehouse On-Time Delivery Percentage Analysis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B0F0"/>
                </a:solidFill>
              </a:rPr>
              <a:t>SELECT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warehouse_id</a:t>
            </a:r>
            <a:r>
              <a:rPr lang="en-US" sz="1600" dirty="0"/>
              <a:t>, (</a:t>
            </a:r>
            <a:r>
              <a:rPr lang="en-US" sz="1600" dirty="0">
                <a:solidFill>
                  <a:srgbClr val="996633"/>
                </a:solidFill>
              </a:rPr>
              <a:t>SUM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B0F0"/>
                </a:solidFill>
              </a:rPr>
              <a:t>CASE WHEN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actual_delivery_date</a:t>
            </a:r>
            <a:r>
              <a:rPr lang="en-US" sz="1600" dirty="0"/>
              <a:t> &lt;= </a:t>
            </a:r>
            <a:r>
              <a:rPr lang="en-US" sz="1600" dirty="0" err="1"/>
              <a:t>expected_delivery_date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THEN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996633"/>
                </a:solidFill>
              </a:rPr>
              <a:t>1 </a:t>
            </a:r>
            <a:r>
              <a:rPr lang="en-US" sz="1600" dirty="0">
                <a:solidFill>
                  <a:srgbClr val="00B0F0"/>
                </a:solidFill>
              </a:rPr>
              <a:t>ELSE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996633"/>
                </a:solidFill>
              </a:rPr>
              <a:t>0 </a:t>
            </a:r>
            <a:r>
              <a:rPr lang="en-US" sz="1600" dirty="0">
                <a:solidFill>
                  <a:srgbClr val="00B0F0"/>
                </a:solidFill>
              </a:rPr>
              <a:t>END</a:t>
            </a:r>
            <a:r>
              <a:rPr lang="en-US" sz="1600" dirty="0"/>
              <a:t>) * 100.0 / </a:t>
            </a:r>
            <a:r>
              <a:rPr lang="en-US" sz="1600" dirty="0">
                <a:solidFill>
                  <a:srgbClr val="996633"/>
                </a:solidFill>
              </a:rPr>
              <a:t>COUNT</a:t>
            </a:r>
            <a:r>
              <a:rPr lang="en-US" sz="1600" dirty="0"/>
              <a:t>(*))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AS</a:t>
            </a:r>
            <a:r>
              <a:rPr lang="en-US" sz="1600" dirty="0"/>
              <a:t> </a:t>
            </a:r>
            <a:r>
              <a:rPr lang="en-US" sz="1600" dirty="0" err="1"/>
              <a:t>on_time_percentage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F0"/>
                </a:solidFill>
              </a:rPr>
              <a:t>FROM</a:t>
            </a:r>
            <a:r>
              <a:rPr lang="en-US" sz="1600" dirty="0"/>
              <a:t> orders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00B0F0"/>
                </a:solidFill>
              </a:rPr>
              <a:t>GROUP BY </a:t>
            </a:r>
            <a:r>
              <a:rPr lang="en-US" sz="1600" dirty="0" err="1"/>
              <a:t>warehouse_id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2655D8-882E-349E-E1AB-B60614BC35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231" y="4292398"/>
            <a:ext cx="2953162" cy="230777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F9A333-B92F-3C2C-A98E-2A407503E530}"/>
              </a:ext>
            </a:extLst>
          </p:cNvPr>
          <p:cNvSpPr/>
          <p:nvPr/>
        </p:nvSpPr>
        <p:spPr>
          <a:xfrm>
            <a:off x="391886" y="323153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Advanced KPI Reporting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E371A1-D85A-0984-BAB6-31F56BE20F91}"/>
              </a:ext>
            </a:extLst>
          </p:cNvPr>
          <p:cNvCxnSpPr>
            <a:cxnSpLocks/>
          </p:cNvCxnSpPr>
          <p:nvPr/>
        </p:nvCxnSpPr>
        <p:spPr>
          <a:xfrm>
            <a:off x="5312229" y="2699658"/>
            <a:ext cx="32432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B3B6C1-D5F3-3319-AA33-AD6476083B8B}"/>
              </a:ext>
            </a:extLst>
          </p:cNvPr>
          <p:cNvCxnSpPr>
            <a:cxnSpLocks/>
          </p:cNvCxnSpPr>
          <p:nvPr/>
        </p:nvCxnSpPr>
        <p:spPr>
          <a:xfrm>
            <a:off x="5332876" y="5529944"/>
            <a:ext cx="32432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92D08E87-5438-B9ED-335B-F2486759CCDF}"/>
              </a:ext>
            </a:extLst>
          </p:cNvPr>
          <p:cNvSpPr/>
          <p:nvPr/>
        </p:nvSpPr>
        <p:spPr>
          <a:xfrm>
            <a:off x="8953073" y="119744"/>
            <a:ext cx="3111431" cy="3189513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Certain start locations consistently show higher average delivery delays, while warehouse on-time delivery percentages vary significantly, indicating differences in operational efficiency across the supply chain.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683038-66AA-9999-BD70-BFAC7B0B53FF}"/>
              </a:ext>
            </a:extLst>
          </p:cNvPr>
          <p:cNvSpPr/>
          <p:nvPr/>
        </p:nvSpPr>
        <p:spPr>
          <a:xfrm>
            <a:off x="8999354" y="3810000"/>
            <a:ext cx="2953162" cy="2928256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rgbClr val="662F6D"/>
                </a:solidFill>
              </a:rPr>
              <a:t>Analysis Approach</a:t>
            </a:r>
            <a:endParaRPr lang="en-US" b="1" u="sng" dirty="0">
              <a:solidFill>
                <a:srgbClr val="662F6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Calculated average delivery delay for each start location using route and order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Compared warehouse on-time delivery percentages to evaluate operational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-apple-system-body"/>
              </a:rPr>
              <a:t>Analyzed KPI metrics to identify high-delay locations and low-performing warehouses</a:t>
            </a:r>
          </a:p>
        </p:txBody>
      </p:sp>
    </p:spTree>
    <p:extLst>
      <p:ext uri="{BB962C8B-B14F-4D97-AF65-F5344CB8AC3E}">
        <p14:creationId xmlns:p14="http://schemas.microsoft.com/office/powerpoint/2010/main" val="138556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C6F8C-6072-A0BF-FC2C-4D3AAAB76092}"/>
              </a:ext>
            </a:extLst>
          </p:cNvPr>
          <p:cNvSpPr/>
          <p:nvPr/>
        </p:nvSpPr>
        <p:spPr>
          <a:xfrm>
            <a:off x="402770" y="1632857"/>
            <a:ext cx="4669972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Average Traffic Delay per Route Analysis</a:t>
            </a:r>
          </a:p>
          <a:p>
            <a:endParaRPr lang="en-IN" sz="1600" dirty="0">
              <a:solidFill>
                <a:srgbClr val="00B0F0"/>
              </a:solidFill>
            </a:endParaRPr>
          </a:p>
          <a:p>
            <a:r>
              <a:rPr lang="en-IN" sz="1600" dirty="0">
                <a:solidFill>
                  <a:srgbClr val="00B0F0"/>
                </a:solidFill>
              </a:rPr>
              <a:t>SELECT</a:t>
            </a:r>
            <a:r>
              <a:rPr lang="en-IN" sz="1600" dirty="0"/>
              <a:t>     </a:t>
            </a:r>
          </a:p>
          <a:p>
            <a:r>
              <a:rPr lang="en-IN" sz="1600" dirty="0"/>
              <a:t>	</a:t>
            </a:r>
            <a:r>
              <a:rPr lang="en-IN" sz="1600" dirty="0" err="1"/>
              <a:t>o.route_id</a:t>
            </a:r>
            <a:r>
              <a:rPr lang="en-IN" sz="1600" dirty="0"/>
              <a:t>, </a:t>
            </a:r>
            <a:r>
              <a:rPr lang="en-IN" sz="1600" dirty="0">
                <a:solidFill>
                  <a:srgbClr val="00B0F0"/>
                </a:solidFill>
              </a:rPr>
              <a:t>AVG</a:t>
            </a:r>
            <a:r>
              <a:rPr lang="en-IN" sz="1600" dirty="0"/>
              <a:t>(</a:t>
            </a:r>
            <a:r>
              <a:rPr lang="en-IN" sz="1600" dirty="0" err="1"/>
              <a:t>s.Delay_Minutes</a:t>
            </a:r>
            <a:r>
              <a:rPr lang="en-IN" sz="1600" dirty="0"/>
              <a:t>)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AS</a:t>
            </a:r>
            <a:r>
              <a:rPr lang="en-IN" sz="1600" dirty="0"/>
              <a:t> </a:t>
            </a:r>
            <a:r>
              <a:rPr lang="en-IN" sz="1600" dirty="0" err="1"/>
              <a:t>avg_traffic_delay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FROM</a:t>
            </a:r>
            <a:r>
              <a:rPr lang="en-IN" sz="1600" dirty="0"/>
              <a:t> </a:t>
            </a:r>
            <a:r>
              <a:rPr lang="en-IN" sz="1600" dirty="0" err="1"/>
              <a:t>shipment_tracking</a:t>
            </a:r>
            <a:r>
              <a:rPr lang="en-IN" sz="1600" dirty="0"/>
              <a:t> s 	</a:t>
            </a:r>
            <a:r>
              <a:rPr lang="en-IN" sz="1600" dirty="0">
                <a:solidFill>
                  <a:srgbClr val="00B0F0"/>
                </a:solidFill>
              </a:rPr>
              <a:t>JOIN</a:t>
            </a:r>
            <a:r>
              <a:rPr lang="en-IN" sz="1600" dirty="0"/>
              <a:t> orders o </a:t>
            </a:r>
            <a:r>
              <a:rPr lang="en-IN" sz="1600" dirty="0">
                <a:solidFill>
                  <a:srgbClr val="00B0F0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s.order_id</a:t>
            </a:r>
            <a:r>
              <a:rPr lang="en-IN" sz="1600" dirty="0"/>
              <a:t> = </a:t>
            </a:r>
            <a:r>
              <a:rPr lang="en-IN" sz="1600" dirty="0" err="1"/>
              <a:t>o.order_id</a:t>
            </a:r>
            <a:r>
              <a:rPr lang="en-IN" sz="1600" dirty="0"/>
              <a:t> 	</a:t>
            </a:r>
            <a:r>
              <a:rPr lang="en-IN" sz="1600" dirty="0">
                <a:solidFill>
                  <a:srgbClr val="00B0F0"/>
                </a:solidFill>
              </a:rPr>
              <a:t>GROUP BY </a:t>
            </a:r>
            <a:r>
              <a:rPr lang="en-IN" sz="1600" dirty="0" err="1"/>
              <a:t>o.route_id</a:t>
            </a:r>
            <a:r>
              <a:rPr lang="en-IN" sz="1600" dirty="0"/>
              <a:t> </a:t>
            </a:r>
          </a:p>
          <a:p>
            <a:r>
              <a:rPr lang="en-IN" sz="1600" dirty="0"/>
              <a:t>	</a:t>
            </a:r>
            <a:r>
              <a:rPr lang="en-IN" sz="1600" dirty="0">
                <a:solidFill>
                  <a:srgbClr val="00B0F0"/>
                </a:solidFill>
              </a:rPr>
              <a:t>ORDER BY </a:t>
            </a:r>
            <a:r>
              <a:rPr lang="en-IN" sz="1600" dirty="0" err="1"/>
              <a:t>avg_traffic_delay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B0F0"/>
                </a:solidFill>
              </a:rPr>
              <a:t>DESC</a:t>
            </a:r>
            <a:r>
              <a:rPr lang="en-IN" sz="1600" dirty="0"/>
              <a:t>;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B7B94-238E-CA62-9ED0-7B392CA27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081" y="707571"/>
            <a:ext cx="2333951" cy="321128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BAE64A-BFFC-E235-DCB2-84F2CFA2D43B}"/>
              </a:ext>
            </a:extLst>
          </p:cNvPr>
          <p:cNvSpPr/>
          <p:nvPr/>
        </p:nvSpPr>
        <p:spPr>
          <a:xfrm>
            <a:off x="391886" y="323153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Advanced KPI Reporting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8B1A99-F624-B86C-6A77-AFDC9B4CB057}"/>
              </a:ext>
            </a:extLst>
          </p:cNvPr>
          <p:cNvCxnSpPr>
            <a:cxnSpLocks/>
          </p:cNvCxnSpPr>
          <p:nvPr/>
        </p:nvCxnSpPr>
        <p:spPr>
          <a:xfrm>
            <a:off x="5312229" y="2699658"/>
            <a:ext cx="32432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D6405992-0812-8BC7-BF37-8D1A2C848046}"/>
              </a:ext>
            </a:extLst>
          </p:cNvPr>
          <p:cNvSpPr/>
          <p:nvPr/>
        </p:nvSpPr>
        <p:spPr>
          <a:xfrm>
            <a:off x="8449563" y="239487"/>
            <a:ext cx="3473428" cy="3309256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Insights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Routes with consistently high average traffic delays indicate traffic congestion hotspots that negatively impact overall delivery efficiency and on-time performance.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ACE9B-25CB-A8A1-2BE6-CB93C0B76026}"/>
              </a:ext>
            </a:extLst>
          </p:cNvPr>
          <p:cNvSpPr/>
          <p:nvPr/>
        </p:nvSpPr>
        <p:spPr>
          <a:xfrm>
            <a:off x="402770" y="4365171"/>
            <a:ext cx="6117772" cy="22860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662F6D"/>
                </a:solidFill>
              </a:rPr>
              <a:t>Analysis Approach</a:t>
            </a:r>
            <a:endParaRPr lang="en-US" sz="2000" b="1" u="sng" dirty="0">
              <a:solidFill>
                <a:srgbClr val="662F6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Calculated average traffic delay minutes for each route using shipment tracking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Joined shipment tracking and orders tables to map delays with route 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Compared routes based on average traffic delay to identify congestion-prone routes</a:t>
            </a:r>
          </a:p>
        </p:txBody>
      </p:sp>
    </p:spTree>
    <p:extLst>
      <p:ext uri="{BB962C8B-B14F-4D97-AF65-F5344CB8AC3E}">
        <p14:creationId xmlns:p14="http://schemas.microsoft.com/office/powerpoint/2010/main" val="3483807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90D842-D9EF-CC4E-DFE4-D0A18822C6DE}"/>
              </a:ext>
            </a:extLst>
          </p:cNvPr>
          <p:cNvSpPr/>
          <p:nvPr/>
        </p:nvSpPr>
        <p:spPr>
          <a:xfrm>
            <a:off x="391886" y="323153"/>
            <a:ext cx="4615542" cy="74022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Advanced KPI Reporting</a:t>
            </a:r>
            <a:endParaRPr lang="en-IN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DEE43-7681-D1DC-157C-679B4D7F0687}"/>
              </a:ext>
            </a:extLst>
          </p:cNvPr>
          <p:cNvSpPr/>
          <p:nvPr/>
        </p:nvSpPr>
        <p:spPr>
          <a:xfrm>
            <a:off x="315686" y="1556657"/>
            <a:ext cx="5257800" cy="5061857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Ahmedabad and Pune show the highest average delivery delays among start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Warehouse on-time delivery performance varies significantly, indicating operational inconsistency across warehouses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Certain routes experience consistently high traffic delays, reducing overall delivery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High traffic delay routes are strongly linked with delayed deliveries and lower service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Warehouses with lower on-time percentages may be contributing to shipment bottlenecks and customer dissatisfaction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37C58-01EE-54AD-59B8-459C8AA722EF}"/>
              </a:ext>
            </a:extLst>
          </p:cNvPr>
          <p:cNvSpPr/>
          <p:nvPr/>
        </p:nvSpPr>
        <p:spPr>
          <a:xfrm>
            <a:off x="6618514" y="1556656"/>
            <a:ext cx="5257800" cy="5061857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Optimize routes with high traffic delays using alternate paths and dynamic route planning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Improve warehouse processing efficiency in low-performing warehouses through better resource allocation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Increase monitoring of high-delay start locations to reduce recurring delivery delays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Implement real-time traffic tracking systems for faster route adjustments during deliveries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-apple-system-body"/>
              </a:rPr>
              <a:t>Standardize warehouse operations and delivery processes to improve on-time delivery consistency</a:t>
            </a:r>
          </a:p>
        </p:txBody>
      </p:sp>
    </p:spTree>
    <p:extLst>
      <p:ext uri="{BB962C8B-B14F-4D97-AF65-F5344CB8AC3E}">
        <p14:creationId xmlns:p14="http://schemas.microsoft.com/office/powerpoint/2010/main" val="510622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5093C-3400-D6AB-6ED2-A8D15DA657D9}"/>
              </a:ext>
            </a:extLst>
          </p:cNvPr>
          <p:cNvSpPr txBox="1"/>
          <p:nvPr/>
        </p:nvSpPr>
        <p:spPr>
          <a:xfrm>
            <a:off x="2558143" y="998109"/>
            <a:ext cx="61395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</a:t>
            </a:r>
          </a:p>
          <a:p>
            <a:pPr algn="ctr"/>
            <a:r>
              <a:rPr lang="en-US" sz="14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</a:t>
            </a:r>
            <a:endParaRPr lang="en-IN" sz="14000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010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4311</TotalTime>
  <Words>2920</Words>
  <Application>Microsoft Office PowerPoint</Application>
  <PresentationFormat>Widescreen</PresentationFormat>
  <Paragraphs>348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-apple-system-body</vt:lpstr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Dipjyoti Shil</dc:creator>
  <cp:lastModifiedBy>Dipjyoti Shil</cp:lastModifiedBy>
  <cp:revision>16</cp:revision>
  <dcterms:created xsi:type="dcterms:W3CDTF">2026-05-01T09:56:58Z</dcterms:created>
  <dcterms:modified xsi:type="dcterms:W3CDTF">2026-05-09T02:47:17Z</dcterms:modified>
</cp:coreProperties>
</file>